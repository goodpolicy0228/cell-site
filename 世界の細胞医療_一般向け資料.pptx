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9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0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全体像" id="{551d8a3c-22a2-52b2-854f-296b7b54a18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国別比較" id="{cd3be1a8-772d-d33f-890c-410318628bcc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多能性幹細胞" id="{e35816d8-d5e5-6001-87af-ff87f10aca5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AR-T療法" id="{525692f1-3916-030a-e074-2b802d52df63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遺伝子治療・ゲノム編集" id="{19f0501c-563e-3560-5ee0-808686474f3c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その他の領域" id="{fb7e4281-e69e-31ae-d962-2b828fa71d1a}">
          <p14:sldIdLst>
            <p14:sldId id="289"/>
            <p14:sldId id="290"/>
            <p14:sldId id="291"/>
            <p14:sldId id="292"/>
          </p14:sldIdLst>
        </p14:section>
        <p14:section name="トレンドとまとめ" id="{f5e5353f-66b4-5094-e143-c55a84b24e80}">
          <p14:sldIdLst>
            <p14:sldId id="293"/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D5B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D5B68"/>
                </a:solidFill>
                <a:latin typeface="+mn-lt"/>
              </a:rPr>
              <a:t>現在有効な承認の累計件数(初回承認年、5地域の延べ)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有効な承認の累計(件)</c:v>
                </c:pt>
              </c:strCache>
            </c:strRef>
          </c:tx>
          <c:spPr>
            <a:solidFill>
              <a:srgbClr val="C2540F"/>
            </a:solidFill>
            <a:ln w="38100" cap="flat">
              <a:solidFill>
                <a:srgbClr val="C254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2540F"/>
              </a:solidFill>
              <a:ln w="9525" cap="flat">
                <a:solidFill>
                  <a:srgbClr val="C254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  <c:pt idx="19">
                    <c:v>2026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7</c:v>
                </c:pt>
                <c:pt idx="9">
                  <c:v>9</c:v>
                </c:pt>
                <c:pt idx="10">
                  <c:v>11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19</c:v>
                </c:pt>
                <c:pt idx="15">
                  <c:v>25</c:v>
                </c:pt>
                <c:pt idx="16">
                  <c:v>31</c:v>
                </c:pt>
                <c:pt idx="17">
                  <c:v>38</c:v>
                </c:pt>
                <c:pt idx="18">
                  <c:v>41</c:v>
                </c:pt>
                <c:pt idx="19">
                  <c:v>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D5B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D5B68"/>
                </a:solidFill>
                <a:latin typeface="+mn-lt"/>
              </a:rPr>
              <a:t>治験中77件の段階別の件数(5地域の延べ)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治験中の品目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7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前臨床・開始前</c:v>
                  </c:pt>
                  <c:pt idx="1">
                    <c:v>第I相系</c:v>
                  </c:pt>
                  <c:pt idx="2">
                    <c:v>第II相系</c:v>
                  </c:pt>
                  <c:pt idx="3">
                    <c:v>第III相系</c:v>
                  </c:pt>
                  <c:pt idx="4">
                    <c:v>相不明など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34</c:v>
                </c:pt>
                <c:pt idx="2">
                  <c:v>13</c:v>
                </c:pt>
                <c:pt idx="3">
                  <c:v>5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7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承認済み</c:v>
                </c:pt>
              </c:strCache>
            </c:strRef>
          </c:tx>
          <c:spPr>
            <a:solidFill>
              <a:srgbClr val="C2540F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日本(計44件)</c:v>
                  </c:pt>
                  <c:pt idx="1">
                    <c:v>米国(計51件)</c:v>
                  </c:pt>
                  <c:pt idx="2">
                    <c:v>欧州(計21件)</c:v>
                  </c:pt>
                  <c:pt idx="3">
                    <c:v>中国(計24件)</c:v>
                  </c:pt>
                  <c:pt idx="4">
                    <c:v>韓国(計8件)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7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承認(一次情報で未確認)</c:v>
                </c:pt>
              </c:strCache>
            </c:strRef>
          </c:tx>
          <c:spPr>
            <a:solidFill>
              <a:srgbClr val="E0975A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日本(計44件)</c:v>
                  </c:pt>
                  <c:pt idx="1">
                    <c:v>米国(計51件)</c:v>
                  </c:pt>
                  <c:pt idx="2">
                    <c:v>欧州(計21件)</c:v>
                  </c:pt>
                  <c:pt idx="3">
                    <c:v>中国(計24件)</c:v>
                  </c:pt>
                  <c:pt idx="4">
                    <c:v>韓国(計8件)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治験中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日本(計44件)</c:v>
                  </c:pt>
                  <c:pt idx="1">
                    <c:v>米国(計51件)</c:v>
                  </c:pt>
                  <c:pt idx="2">
                    <c:v>欧州(計21件)</c:v>
                  </c:pt>
                  <c:pt idx="3">
                    <c:v>中国(計24件)</c:v>
                  </c:pt>
                  <c:pt idx="4">
                    <c:v>韓国(計8件)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</c:v>
                </c:pt>
                <c:pt idx="1">
                  <c:v>26</c:v>
                </c:pt>
                <c:pt idx="2">
                  <c:v>4</c:v>
                </c:pt>
                <c:pt idx="3">
                  <c:v>17</c:v>
                </c:pt>
                <c:pt idx="4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開発中止・中断</c:v>
                </c:pt>
              </c:strCache>
            </c:strRef>
          </c:tx>
          <c:spPr>
            <a:solidFill>
              <a:srgbClr val="8793A0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日本(計44件)</c:v>
                  </c:pt>
                  <c:pt idx="1">
                    <c:v>米国(計51件)</c:v>
                  </c:pt>
                  <c:pt idx="2">
                    <c:v>欧州(計21件)</c:v>
                  </c:pt>
                  <c:pt idx="3">
                    <c:v>中国(計24件)</c:v>
                  </c:pt>
                  <c:pt idx="4">
                    <c:v>韓国(計8件)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承認取消・失効</c:v>
                </c:pt>
              </c:strCache>
            </c:strRef>
          </c:tx>
          <c:spPr>
            <a:solidFill>
              <a:srgbClr val="5B2A0A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日本(計44件)</c:v>
                  </c:pt>
                  <c:pt idx="1">
                    <c:v>米国(計51件)</c:v>
                  </c:pt>
                  <c:pt idx="2">
                    <c:v>欧州(計21件)</c:v>
                  </c:pt>
                  <c:pt idx="3">
                    <c:v>中国(計24件)</c:v>
                  </c:pt>
                  <c:pt idx="4">
                    <c:v>韓国(計8件)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未承認・申請中</c:v>
                </c:pt>
              </c:strCache>
            </c:strRef>
          </c:tx>
          <c:spPr>
            <a:solidFill>
              <a:srgbClr val="5E8AB8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日本(計44件)</c:v>
                  </c:pt>
                  <c:pt idx="1">
                    <c:v>米国(計51件)</c:v>
                  </c:pt>
                  <c:pt idx="2">
                    <c:v>欧州(計21件)</c:v>
                  </c:pt>
                  <c:pt idx="3">
                    <c:v>中国(計24件)</c:v>
                  </c:pt>
                  <c:pt idx="4">
                    <c:v>韓国(計8件)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承認済み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2540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5F8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E8AB8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793A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米国</c:v>
                </c:pt>
                <c:pt idx="1">
                  <c:v>日本</c:v>
                </c:pt>
                <c:pt idx="2">
                  <c:v>欧州</c:v>
                </c:pt>
                <c:pt idx="3">
                  <c:v>中国</c:v>
                </c:pt>
                <c:pt idx="4">
                  <c:v>韓国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18</c:v>
                </c:pt>
                <c:pt idx="1">
                  <c:v>12</c:v>
                </c:pt>
                <c:pt idx="2">
                  <c:v>7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前臨床・治験開始前</c:v>
                </c:pt>
              </c:strCache>
            </c:strRef>
          </c:tx>
          <c:spPr>
            <a:solidFill>
              <a:srgbClr val="9DBBD9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日本(27件)</c:v>
                  </c:pt>
                  <c:pt idx="1">
                    <c:v>米国(26件)</c:v>
                  </c:pt>
                  <c:pt idx="2">
                    <c:v>欧州(4件)</c:v>
                  </c:pt>
                  <c:pt idx="3">
                    <c:v>中国(17件)</c:v>
                  </c:pt>
                  <c:pt idx="4">
                    <c:v>韓国(3件)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第I相系</c:v>
                </c:pt>
              </c:strCache>
            </c:strRef>
          </c:tx>
          <c:spPr>
            <a:solidFill>
              <a:srgbClr val="2F5F8F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日本(27件)</c:v>
                  </c:pt>
                  <c:pt idx="1">
                    <c:v>米国(26件)</c:v>
                  </c:pt>
                  <c:pt idx="2">
                    <c:v>欧州(4件)</c:v>
                  </c:pt>
                  <c:pt idx="3">
                    <c:v>中国(17件)</c:v>
                  </c:pt>
                  <c:pt idx="4">
                    <c:v>韓国(3件)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13</c:v>
                </c:pt>
                <c:pt idx="2">
                  <c:v>3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第II相系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日本(27件)</c:v>
                  </c:pt>
                  <c:pt idx="1">
                    <c:v>米国(26件)</c:v>
                  </c:pt>
                  <c:pt idx="2">
                    <c:v>欧州(4件)</c:v>
                  </c:pt>
                  <c:pt idx="3">
                    <c:v>中国(17件)</c:v>
                  </c:pt>
                  <c:pt idx="4">
                    <c:v>韓国(3件)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第III相系</c:v>
                </c:pt>
              </c:strCache>
            </c:strRef>
          </c:tx>
          <c:spPr>
            <a:solidFill>
              <a:srgbClr val="C2540F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日本(27件)</c:v>
                  </c:pt>
                  <c:pt idx="1">
                    <c:v>米国(26件)</c:v>
                  </c:pt>
                  <c:pt idx="2">
                    <c:v>欧州(4件)</c:v>
                  </c:pt>
                  <c:pt idx="3">
                    <c:v>中国(17件)</c:v>
                  </c:pt>
                  <c:pt idx="4">
                    <c:v>韓国(3件)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相不明・個別症例等</c:v>
                </c:pt>
              </c:strCache>
            </c:strRef>
          </c:tx>
          <c:spPr>
            <a:solidFill>
              <a:srgbClr val="8793A0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日本(27件)</c:v>
                  </c:pt>
                  <c:pt idx="1">
                    <c:v>米国(26件)</c:v>
                  </c:pt>
                  <c:pt idx="2">
                    <c:v>欧州(4件)</c:v>
                  </c:pt>
                  <c:pt idx="3">
                    <c:v>中国(17件)</c:v>
                  </c:pt>
                  <c:pt idx="4">
                    <c:v>韓国(3件)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numFmt formatCode="#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由来細胞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540F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3A5C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793A0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iPS細胞</c:v>
                </c:pt>
                <c:pt idx="1">
                  <c:v>ES細胞</c:v>
                </c:pt>
                <c:pt idx="2">
                  <c:v>未確認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28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自家 / 他家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2540F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793A0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他家</c:v>
                </c:pt>
                <c:pt idx="1">
                  <c:v>自家</c:v>
                </c:pt>
                <c:pt idx="2">
                  <c:v>未確認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24</c:v>
                </c:pt>
                <c:pt idx="1">
                  <c:v>2</c:v>
                </c:pt>
                <c:pt idx="2">
                  <c:v>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開発地域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540F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3A5C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5F8F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E8AB8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793A0"/>
              </a:solidFill>
              <a:ln w="19050" cap="flat">
                <a:solidFill>
                  <a:srgbClr val="F1F3F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日本</c:v>
                </c:pt>
                <c:pt idx="1">
                  <c:v>米国</c:v>
                </c:pt>
                <c:pt idx="2">
                  <c:v>中国</c:v>
                </c:pt>
                <c:pt idx="3">
                  <c:v>欧州</c:v>
                </c:pt>
                <c:pt idx="4">
                  <c:v>韓国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</c:v>
                </c:pt>
                <c:pt idx="1">
                  <c:v>12</c:v>
                </c:pt>
                <c:pt idx="2">
                  <c:v>6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D5B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D5B68"/>
                </a:solidFill>
                <a:latin typeface="+mn-lt"/>
              </a:rPr>
              <a:t>地域別の承認済みCAR-T(件)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承認済みCAR-T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7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日本</c:v>
                  </c:pt>
                  <c:pt idx="1">
                    <c:v>米国</c:v>
                  </c:pt>
                  <c:pt idx="2">
                    <c:v>欧州</c:v>
                  </c:pt>
                  <c:pt idx="3">
                    <c:v>中国</c:v>
                  </c:pt>
                  <c:pt idx="4">
                    <c:v>韓国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3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427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4D5B68"/>
                </a:solidFill>
                <a:latin typeface="+mn-lt"/>
              </a:rPr>
              <a:t>年別のCAR-T承認件数(5地域の延べ、承認日を確認できた17件)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CAR-T承認件数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7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  <c:pt idx="9">
                    <c:v>2026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" sourceLinked="0"/>
          <c:txPr>
            <a:bodyPr/>
            <a:lstStyle/>
            <a:p>
              <a:pPr>
                <a:defRPr b="0" i="0" strike="noStrike" sz="1100" u="none">
                  <a:solidFill>
                    <a:srgbClr val="1427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5B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改変方式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E8AB8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2540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ウイルスで運ぶ(レンチウイルス)</c:v>
                </c:pt>
                <c:pt idx="1">
                  <c:v>ウイルスで運ぶ(レトロウイルス)</c:v>
                </c:pt>
                <c:pt idx="2">
                  <c:v>ゲノム編集(CRISPR/Cas9)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D5B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本資料は「世界の細胞医療レポート」(調査基準日2026年10月2日)の内容を、生物学の予備知識がない方向けにまとめたものです。各章の最初に、しくみをやさしく説明するスライドを置いています。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のみ薬や注射薬の多くは化学物質やたんぱく質です。細胞医療では、生きた細胞そのものを体に入れて働かせます。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承認済み製品の一部を、治療する場所ごとに示しました。このほか、移植後の合併症(GVHD)、各種のがん、遺伝性の病気向けの製品があります。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件数は同一品目を国ごとに1件と数えた延べ件数です。調査で確認できた範囲の数字で、網羅的な統計ではありません。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自家は患者本人の細胞、他家は健常ドナーやiPS・ES細胞株から作る方式です。他家は作り置きができる一方、承認品目は自家が中心です。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承認件数は、レポートの国別品目一覧(承認済み・確認済み47件)を領域別に本資料で数え直したものです。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承認日を確認できた44件について、初回承認の年を本資料で集計しました。すでに取り消された承認は含みません。2026年は10月2日までの件数です。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治験は、人での安全性と効果を確かめる試験です。この資料では、治験中の品目を段階ごとに数えています。第I/II相のように複数の段階を兼ねる試験もあります。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地図は対象5地域の位置を示す模式図です。件数は同一品目を国ごとに1件と数えた延べ件数です。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日本と米国は治験中の品目が厚く、欧州は21件のうち5件が承認取消・失効です。件数は延べ件数です。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左は承認済み47件の地域別構成、右は治験中77件の相別内訳です。第II相系・第III相系は米国が計11件、日本は計4件です。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承認が現在も有効と確認できた47件(延べ)の一覧です。空欄は本調査で承認を確認できなかったことを示し、未承認を意味しません。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各国の早期承認の枠組みと、レポートで確認できた該当例です。中国の制度は薬品全般が対象で、細胞治療専用の制度の有無は確認できていません。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多能性幹細胞にはES細胞とiPS細胞があります。増やしたあと、目的の細胞に変化させてから移植します。日本で承認されたアムシェプリとリハートはiPS細胞から作られています。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条件及び期限付承認は、少数例の治験で有効性が推定された段階で市販を認め、市販後に有効性を検証する日本の制度です。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パーキンソン病は5地域すべてに開発品目があり、日本のアムシェプリが先行して承認されました。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網膜色素上皮(RPE)細胞と角膜上皮細胞の開発品目です。承認に至った品目は確認できていません。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心不全ではリハートが承認され、中国のHiCM-188が第3相を募集中です。1型糖尿病では米国のVX-880が第1/2/3相です。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免疫細胞の品目(FT522、FT819、CNTY-101など)は、CAR-Tの章でも取り上げます。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レポート第1章の品目表に載っている39品目(承認2品目、前臨床を含む)を本資料で数えたものです。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T細胞は体を守る免疫細胞の一種です。CAR(キメラ抗原受容体)という人工のアンテナを付けることで、がん細胞の表面にある目印を見つけて攻撃できるようになります。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CAR-Tは患者のT細胞にCAR(キメラ抗原受容体)遺伝子を導入して投与する治療です。承認済みの製品はいずれも自家T細胞由来です。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承認日を確認できた17件の初回承認年です。2025年以降の新規承認は中国の独自開発品で、2026年には固形がん向けのsatri-celが承認されました。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Carvyktiは5地域すべてで承認が確認できました。Tecartusは米欧での承認が企業発表のみで、日本では2026年8月に申請されています。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CAR-Tの標的と対象疾患の広がりです。GPRC5D標的のMCARH109は対象国を特定できず、国別集計には含めていません。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固形がんでは中国のsatri-celのみが承認済みです。自己免疫疾患ではKYV-101のループス腎炎試験が2026年8月に中止されました。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他家とは健常人ドナーやiPS細胞から作る作り置き型の製品です。他家やiPS・ES細胞由来で承認に至った品目は確認されていません。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CRISPR/Cas9は、ガイドRNAという案内役が目的の場所を探し、Cas9という酵素がDNAを切る技術です。承認済みのCasgevyは、この方法で胎児型のヘモグロビンが作られるようにしています。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造血幹細胞の遺伝子治療は、確認できた品目すべてが自家細胞を用いています。改変方式はレンチウイルスベクターが中心です。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日本・中国・韓国では承認品目を確認できませんでした。欧州ではZyntegloとSkysonaが商業的理由で承認取消となっています。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Casgevyは造血幹細胞のDNAを編集して胎児ヘモグロビンの産生を増やす治療です。同日に承認されたLyfgeniaには黒枠警告が付いています。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CRISPR/Cas9を用いた品目の帰趨です。品目数が少なく、中止の要因も特定できていないため、一般的な傾向とは結論づけられません。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いずれも主要な一次情報で確認できた事例に限った記載で、網羅的な調査ではありません。HIP技術の報告は1例であり、有効性や安全性を一般化できません。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この章で扱う3つの領域の概要です。TILはがんの中に入り込んでいたリンパ球、TCR-Tはがんを見分ける受容体を入れたT細胞、樹状細胞は免疫に目印を伝える細胞です。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米国でTIL、TCR-T、樹状細胞の3品目が承認されています。NK、γδT、CAR-Mなどは治験段階です。iPS細胞由来の品目は多能性幹細胞のスライドに掲載しています。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GVHD、整形外科、心血管、皮膚、角膜で承認品目があります。一方、gMSC1、CardiAMP、laromestrocelは後期試験で主要評価項目を達成できませんでした。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日本のハートシートは2015年に条件及び期限付承認を取得しましたが、2024年に承認は適切でないと判断され、承認整理されました。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レポート第7章の整理です。確認できた範囲の事実に基づく観察であり、業界全体を代表する統計的な分析ではありません。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欧州では、臨床的な安全性・有効性の問題を理由とする承認撤回は確認されていません。日本のハートシートは、対照群に対する優越性が示されませんでした。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レポートに記載された事実と件数をもとに、本資料として整理したまとめです。数字はいずれも調査で確認できた範囲のものです。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資料中の用語を、平易な表現でまとめました。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詳細と個別の出典は、元の調査報告書の各章を参照してください。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33172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出典:世界の細胞医療レポート(基準日 2026年10月2日)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出典:世界の細胞医療レポート(基準日 2026年10月2日)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B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9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1.xml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やさしく読む調査レポート|2026年10月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3317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世界の細胞医療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生きた細胞で治す医療の、しくみと現在地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対象:日本・米国・欧州・中国・韓国  /  調査基準日:2026年10月2日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914400"/>
            <a:ext cx="2377440" cy="2377440"/>
          </a:xfrm>
          <a:prstGeom prst="ellipse">
            <a:avLst/>
          </a:prstGeom>
          <a:solidFill>
            <a:srgbClr val="2F5F8F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91472" y="1532534"/>
            <a:ext cx="998525" cy="998525"/>
          </a:xfrm>
          <a:prstGeom prst="ellipse">
            <a:avLst/>
          </a:prstGeom>
          <a:solidFill>
            <a:srgbClr val="9DBBD9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2651760"/>
            <a:ext cx="1554480" cy="1554480"/>
          </a:xfrm>
          <a:prstGeom prst="ellipse">
            <a:avLst/>
          </a:prstGeom>
          <a:solidFill>
            <a:srgbClr val="C2540F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90504" y="3055925"/>
            <a:ext cx="652882" cy="652882"/>
          </a:xfrm>
          <a:prstGeom prst="ellipse">
            <a:avLst/>
          </a:prstGeom>
          <a:solidFill>
            <a:srgbClr val="EDB98A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3383280"/>
            <a:ext cx="1737360" cy="1737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8933688" y="3834994"/>
            <a:ext cx="729691" cy="729691"/>
          </a:xfrm>
          <a:prstGeom prst="ellipse">
            <a:avLst/>
          </a:prstGeom>
          <a:solidFill>
            <a:srgbClr val="9DBBD9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0" y="4480560"/>
            <a:ext cx="1280160" cy="1280160"/>
          </a:xfrm>
          <a:prstGeom prst="ellipse">
            <a:avLst/>
          </a:prstGeom>
          <a:solidFill>
            <a:srgbClr val="2F5F8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51008" y="4813402"/>
            <a:ext cx="537667" cy="537667"/>
          </a:xfrm>
          <a:prstGeom prst="ellipse">
            <a:avLst/>
          </a:prstGeom>
          <a:solidFill>
            <a:srgbClr val="9DBBD9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64240" y="1097280"/>
            <a:ext cx="822960" cy="822960"/>
          </a:xfrm>
          <a:prstGeom prst="ellipse">
            <a:avLst/>
          </a:prstGeom>
          <a:solidFill>
            <a:srgbClr val="9DBBD9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11128" y="1311250"/>
            <a:ext cx="345643" cy="345643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5212080"/>
            <a:ext cx="822960" cy="822960"/>
          </a:xfrm>
          <a:prstGeom prst="ellipse">
            <a:avLst/>
          </a:prstGeom>
          <a:solidFill>
            <a:srgbClr val="C2540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10728" y="5426050"/>
            <a:ext cx="345643" cy="345643"/>
          </a:xfrm>
          <a:prstGeom prst="ellipse">
            <a:avLst/>
          </a:prstGeom>
          <a:solidFill>
            <a:srgbClr val="EDB98A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5394960"/>
            <a:ext cx="640080" cy="640080"/>
          </a:xfrm>
          <a:prstGeom prst="ellipse">
            <a:avLst/>
          </a:prstGeom>
          <a:solidFill>
            <a:srgbClr val="9DBBD9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347704" y="5561381"/>
            <a:ext cx="268834" cy="26883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細胞医療は、生きた細胞を「薬」として使う治療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135728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これまでの薬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029968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化学物質やたんぱく質が体に働きかける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67248" y="1920240"/>
            <a:ext cx="45720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hape 7"/>
          <p:cNvSpPr/>
          <p:nvPr/>
        </p:nvSpPr>
        <p:spPr>
          <a:xfrm>
            <a:off x="6507328" y="1554480"/>
            <a:ext cx="5135728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2" name="Shape 8"/>
          <p:cNvSpPr/>
          <p:nvPr/>
        </p:nvSpPr>
        <p:spPr>
          <a:xfrm>
            <a:off x="6735928" y="1737360"/>
            <a:ext cx="685800" cy="685800"/>
          </a:xfrm>
          <a:prstGeom prst="ellipse">
            <a:avLst/>
          </a:prstGeom>
          <a:solidFill>
            <a:srgbClr val="C2540F"/>
          </a:solidFill>
          <a:ln/>
        </p:spPr>
      </p:sp>
      <p:sp>
        <p:nvSpPr>
          <p:cNvPr id="13" name="Shape 9"/>
          <p:cNvSpPr/>
          <p:nvPr/>
        </p:nvSpPr>
        <p:spPr>
          <a:xfrm>
            <a:off x="6941668" y="1915668"/>
            <a:ext cx="288036" cy="288036"/>
          </a:xfrm>
          <a:prstGeom prst="ellipse">
            <a:avLst/>
          </a:prstGeom>
          <a:solidFill>
            <a:srgbClr val="EDB98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604608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細胞医療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04608" y="2029968"/>
            <a:ext cx="385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生きた細胞そのものが、体の中で働く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細胞医療にできる、3つのこと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3200400"/>
            <a:ext cx="3515258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" y="3310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3149498" y="3383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800" y="3513582"/>
            <a:ext cx="425196" cy="4251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240" y="4114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失われた細胞を補う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45262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病気やけがで働きを失った細胞の代わりに、新しい細胞を移植する。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5257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54681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パーキンソン病、重い心不全、角膜や軟骨の病気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338218" y="3200400"/>
            <a:ext cx="3515258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566818" y="3310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27" name="Shape 22"/>
          <p:cNvSpPr/>
          <p:nvPr/>
        </p:nvSpPr>
        <p:spPr>
          <a:xfrm>
            <a:off x="6939077" y="33832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379" y="3513582"/>
            <a:ext cx="425196" cy="42519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566818" y="4114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病気と闘う細胞を送り込む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4566818" y="45262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免疫細胞に、がんを見つけて攻撃する力を持たせて体に戻す。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566818" y="5257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4566818" y="54681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血液のがん(CAR-T療法)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127797" y="3200400"/>
            <a:ext cx="3515258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356397" y="3310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35" name="Shape 29"/>
          <p:cNvSpPr/>
          <p:nvPr/>
        </p:nvSpPr>
        <p:spPr>
          <a:xfrm>
            <a:off x="10728655" y="33832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957" y="3513582"/>
            <a:ext cx="425196" cy="42519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356397" y="4114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遺伝子を直した細胞を戻す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8356397" y="45262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遺伝子の不具合を細胞の段階で直してから、体に戻す。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8356397" y="52578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8356397" y="54681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遺伝性の血液の病気(鎌状赤血球症など)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脳、目、心臓、血液。体のさまざまな場所で承認されている</a:t>
            </a:r>
            <a:endParaRPr lang="en-US" sz="2800" dirty="0"/>
          </a:p>
        </p:txBody>
      </p:sp>
      <p:pic>
        <p:nvPicPr>
          <p:cNvPr id="5" name="Image 0" descr="人体のシルエッ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7008" y="1481328"/>
            <a:ext cx="4297680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flipV="1">
            <a:off x="4434840" y="1739189"/>
            <a:ext cx="1639519" cy="281635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010351" y="1675181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1627632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9" name="Shape 5"/>
          <p:cNvSpPr/>
          <p:nvPr/>
        </p:nvSpPr>
        <p:spPr>
          <a:xfrm>
            <a:off x="658368" y="174650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1850746"/>
            <a:ext cx="340157" cy="34015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17007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脳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パーキンソン病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アムシェプリ(日本)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 flipV="1">
            <a:off x="4434840" y="2899562"/>
            <a:ext cx="1875892" cy="218542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246724" y="283555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8640" y="2724912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658368" y="284378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2948026"/>
            <a:ext cx="340157" cy="34015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心臓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重い心不全、心筋梗塞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3127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リハート(日本)、Cellgram-AMI(韓国)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 flipV="1">
            <a:off x="4434840" y="3501238"/>
            <a:ext cx="1510589" cy="714146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881421" y="343723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" y="3822192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23" name="Shape 17"/>
          <p:cNvSpPr/>
          <p:nvPr/>
        </p:nvSpPr>
        <p:spPr>
          <a:xfrm>
            <a:off x="658368" y="39410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10" y="4045306"/>
            <a:ext cx="340157" cy="34015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38953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膵臓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1型糖尿病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1325880" y="4224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Lantidra(米国)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 flipV="1">
            <a:off x="4434840" y="4833518"/>
            <a:ext cx="1381658" cy="479146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752490" y="476951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48640" y="4919472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658368" y="503834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10" y="5142586"/>
            <a:ext cx="340157" cy="34015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25880" y="49926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ひざの軟骨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軟骨の欠損、変形性関節症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1325880" y="5321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JACC(日本)、MACI(米国)、CARTISTEM(韓国)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03290" y="1911096"/>
            <a:ext cx="1553566" cy="18288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139282" y="1847088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756855" y="1536192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37" name="Shape 29"/>
          <p:cNvSpPr/>
          <p:nvPr/>
        </p:nvSpPr>
        <p:spPr>
          <a:xfrm>
            <a:off x="7866583" y="16550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0825" y="1759306"/>
            <a:ext cx="340157" cy="34015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534095" y="16093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目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角膜の病気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8534095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ビズノバ(日本)、Holoclar(欧州)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611569" y="2641702"/>
            <a:ext cx="1145286" cy="160934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547561" y="2577694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756855" y="2409444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44" name="Shape 35"/>
          <p:cNvSpPr/>
          <p:nvPr/>
        </p:nvSpPr>
        <p:spPr>
          <a:xfrm>
            <a:off x="7866583" y="252831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0825" y="2632558"/>
            <a:ext cx="340157" cy="34015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534095" y="24825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血液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血液のがん、遺伝性の貧血</a:t>
            </a:r>
            <a:endParaRPr lang="en-US" sz="1400" dirty="0"/>
          </a:p>
        </p:txBody>
      </p:sp>
      <p:sp>
        <p:nvSpPr>
          <p:cNvPr id="47" name="Text 37"/>
          <p:cNvSpPr txBox="1"/>
          <p:nvPr/>
        </p:nvSpPr>
        <p:spPr>
          <a:xfrm>
            <a:off x="8534095" y="28117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CAR-T各製品、Casgevyなど(5地域)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6095848" y="3200400"/>
            <a:ext cx="1661008" cy="475488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031840" y="3136392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7756855" y="3282696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51" name="Shape 41"/>
          <p:cNvSpPr/>
          <p:nvPr/>
        </p:nvSpPr>
        <p:spPr>
          <a:xfrm>
            <a:off x="7866583" y="340156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0825" y="3505810"/>
            <a:ext cx="340157" cy="340157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8534095" y="33558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脊髄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脊髄損傷</a:t>
            </a:r>
            <a:endParaRPr lang="en-US" sz="1400" dirty="0"/>
          </a:p>
        </p:txBody>
      </p:sp>
      <p:sp>
        <p:nvSpPr>
          <p:cNvPr id="54" name="Text 43"/>
          <p:cNvSpPr txBox="1"/>
          <p:nvPr/>
        </p:nvSpPr>
        <p:spPr>
          <a:xfrm>
            <a:off x="8534095" y="36850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ステミラック注(日本)</a:t>
            </a:r>
            <a:endParaRPr lang="en-US" sz="1050" dirty="0"/>
          </a:p>
        </p:txBody>
      </p:sp>
      <p:sp>
        <p:nvSpPr>
          <p:cNvPr id="55" name="Shape 44"/>
          <p:cNvSpPr/>
          <p:nvPr/>
        </p:nvSpPr>
        <p:spPr>
          <a:xfrm>
            <a:off x="6890918" y="3501238"/>
            <a:ext cx="865937" cy="1047902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826910" y="343723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7756855" y="4155948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58" name="Shape 47"/>
          <p:cNvSpPr/>
          <p:nvPr/>
        </p:nvSpPr>
        <p:spPr>
          <a:xfrm>
            <a:off x="7866583" y="42748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0825" y="4379062"/>
            <a:ext cx="340157" cy="340157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8534095" y="42291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皮膚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重いやけど</a:t>
            </a:r>
            <a:endParaRPr lang="en-US" sz="1400" dirty="0"/>
          </a:p>
        </p:txBody>
      </p:sp>
      <p:sp>
        <p:nvSpPr>
          <p:cNvPr id="61" name="Text 49"/>
          <p:cNvSpPr txBox="1"/>
          <p:nvPr/>
        </p:nvSpPr>
        <p:spPr>
          <a:xfrm>
            <a:off x="8534095" y="45582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ジェイス(日本)</a:t>
            </a:r>
            <a:endParaRPr lang="en-US" sz="1050" dirty="0"/>
          </a:p>
        </p:txBody>
      </p:sp>
      <p:sp>
        <p:nvSpPr>
          <p:cNvPr id="62" name="Shape 50"/>
          <p:cNvSpPr/>
          <p:nvPr/>
        </p:nvSpPr>
        <p:spPr>
          <a:xfrm>
            <a:off x="6418174" y="4575658"/>
            <a:ext cx="1338682" cy="846734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6354166" y="451165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7756855" y="5029200"/>
            <a:ext cx="3886200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/>
        </p:spPr>
      </p:sp>
      <p:sp>
        <p:nvSpPr>
          <p:cNvPr id="65" name="Shape 53"/>
          <p:cNvSpPr/>
          <p:nvPr/>
        </p:nvSpPr>
        <p:spPr>
          <a:xfrm>
            <a:off x="7866583" y="514807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0825" y="5252314"/>
            <a:ext cx="340157" cy="340157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534095" y="51023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血管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手足の血管のけが</a:t>
            </a:r>
            <a:endParaRPr lang="en-US" sz="1400" dirty="0"/>
          </a:p>
        </p:txBody>
      </p:sp>
      <p:sp>
        <p:nvSpPr>
          <p:cNvPr id="68" name="Text 55"/>
          <p:cNvSpPr txBox="1"/>
          <p:nvPr/>
        </p:nvSpPr>
        <p:spPr>
          <a:xfrm>
            <a:off x="8534095" y="54315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Symvess(米国)</a:t>
            </a:r>
            <a:endParaRPr lang="en-US" sz="1050" dirty="0"/>
          </a:p>
        </p:txBody>
      </p:sp>
      <p:sp>
        <p:nvSpPr>
          <p:cNvPr id="69" name="Text 56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承認済み製品の一部を、治療する場所ごとに示した。ほかに、移植後の合併症や各種のがん、遺伝性の病気向けの製品がある。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全体像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細胞医療は「承認47件・治験77件」の段階にある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567864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2430704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004" y="18973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178308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47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件</a:t>
            </a:r>
            <a:endParaRPr lang="en-US" sz="6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85292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承認済みの品目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18688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5地域の延べ件数。米国18件、日本12件が中心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90824" y="1600200"/>
            <a:ext cx="2567864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5272888" y="17830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188" y="18973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19424" y="178308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77</a:t>
            </a:r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 件</a:t>
            </a:r>
            <a:endParaRPr lang="en-US" sz="6000" dirty="0"/>
          </a:p>
        </p:txBody>
      </p:sp>
      <p:sp>
        <p:nvSpPr>
          <p:cNvPr id="15" name="Text 10"/>
          <p:cNvSpPr txBox="1"/>
          <p:nvPr/>
        </p:nvSpPr>
        <p:spPr>
          <a:xfrm>
            <a:off x="3619424" y="285292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治験段階の品目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619424" y="3218688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前臨床から試験完了までを含む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33008" y="1600200"/>
            <a:ext cx="2567864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8" name="Shape 13"/>
          <p:cNvSpPr/>
          <p:nvPr/>
        </p:nvSpPr>
        <p:spPr>
          <a:xfrm>
            <a:off x="8115071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71" y="18973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61608" y="178308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品目</a:t>
            </a:r>
            <a:endParaRPr lang="en-US" sz="6000" dirty="0"/>
          </a:p>
        </p:txBody>
      </p:sp>
      <p:sp>
        <p:nvSpPr>
          <p:cNvPr id="21" name="Text 15"/>
          <p:cNvSpPr txBox="1"/>
          <p:nvPr/>
        </p:nvSpPr>
        <p:spPr>
          <a:xfrm>
            <a:off x="6461608" y="285292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iPS細胞由来の承認製品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61608" y="3218688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2026年3月に日本で承認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75191" y="1600200"/>
            <a:ext cx="2567864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10957255" y="17830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555" y="18973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03791" y="178308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15</a:t>
            </a:r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 件</a:t>
            </a:r>
            <a:endParaRPr lang="en-US" sz="6000" dirty="0"/>
          </a:p>
        </p:txBody>
      </p:sp>
      <p:sp>
        <p:nvSpPr>
          <p:cNvPr id="27" name="Text 20"/>
          <p:cNvSpPr txBox="1"/>
          <p:nvPr/>
        </p:nvSpPr>
        <p:spPr>
          <a:xfrm>
            <a:off x="9303791" y="285292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取消・失効と開発中止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218688"/>
            <a:ext cx="2156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承認取消・失効6件、開発中止・中断9件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5地域で確認できた品目は延べ148件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548640" y="4846320"/>
            <a:ext cx="3495794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48640" y="4846320"/>
            <a:ext cx="3495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47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071866" y="4846320"/>
            <a:ext cx="272417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071866" y="4846320"/>
            <a:ext cx="2724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371716" y="4846320"/>
            <a:ext cx="5744662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4371716" y="4846320"/>
            <a:ext cx="57446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77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0143810" y="4846320"/>
            <a:ext cx="647228" cy="5029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10143810" y="4846320"/>
            <a:ext cx="647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10818470" y="4846320"/>
            <a:ext cx="422342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10818470" y="4846320"/>
            <a:ext cx="422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11268244" y="4846320"/>
            <a:ext cx="347379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11268244" y="4846320"/>
            <a:ext cx="347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548640" y="5559552"/>
            <a:ext cx="164592" cy="164592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786384" y="55046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承認済み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1764792" y="5559552"/>
            <a:ext cx="164592" cy="164592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2002536" y="55046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承認(未確認)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3447288" y="5559552"/>
            <a:ext cx="164592" cy="164592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3685032" y="550468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治験中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4507992" y="5559552"/>
            <a:ext cx="164592" cy="164592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4745736" y="55046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開発中止・中断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6190488" y="5559552"/>
            <a:ext cx="164592" cy="164592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428232" y="55046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承認取消・失効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7872984" y="5559552"/>
            <a:ext cx="164592" cy="164592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8110728" y="55046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未承認・申請中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全体像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細胞医療には「自家」と「他家」の2つの作り方がある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874520"/>
            <a:ext cx="173736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842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自家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96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autologous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患者自身の細胞を使う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患者から細胞を採取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43400" y="2112264"/>
            <a:ext cx="457200" cy="256032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Shape 10"/>
          <p:cNvSpPr/>
          <p:nvPr/>
        </p:nvSpPr>
        <p:spPr>
          <a:xfrm>
            <a:off x="52120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57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体外で加工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(遺伝子導入・培養)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63640" y="2112264"/>
            <a:ext cx="457200" cy="256032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574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62940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同じ患者に投与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641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承認済みの例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641080" y="2221992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CAR-T(Kymriah、Carvyktiなど)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遺伝子治療(Casgevyなど)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749040"/>
            <a:ext cx="11094415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4023360"/>
            <a:ext cx="173736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4133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他家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645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allogeneic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他人の細胞を使う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91840" y="4023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2062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2788920" y="4846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健康な人の細胞や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iPS・ES細胞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343400" y="4261104"/>
            <a:ext cx="457200" cy="256032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2" name="Shape 25"/>
          <p:cNvSpPr/>
          <p:nvPr/>
        </p:nvSpPr>
        <p:spPr>
          <a:xfrm>
            <a:off x="5212080" y="4023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20624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709160" y="4846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加工して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まとめて製造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263640" y="4261104"/>
            <a:ext cx="457200" cy="256032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Shape 28"/>
          <p:cNvSpPr/>
          <p:nvPr/>
        </p:nvSpPr>
        <p:spPr>
          <a:xfrm>
            <a:off x="7132320" y="4023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06240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629400" y="4846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複数の患者に投与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86410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承認済みの例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8641080" y="4370832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アムシェプリ、リハート(iPS細胞由来)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TEMCELL HS注、Ryoncil(間葉系幹細胞)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自家は本人の細胞なので拒絶反応が起きにくい。他家は作り置きができ、すぐに使える一方、拒絶反応への対策が課題になる。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全体像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6つの領域のうち、承認が最も多いのはCAR-T療法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78308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多能性幹細胞(iPS・ES)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 </a:t>
            </a:r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件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331720" y="2743200"/>
            <a:ext cx="1503578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" name="Shape 7"/>
          <p:cNvSpPr/>
          <p:nvPr/>
        </p:nvSpPr>
        <p:spPr>
          <a:xfrm>
            <a:off x="2331720" y="2743200"/>
            <a:ext cx="150358" cy="1463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7240" y="3090672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どんな細胞にもなれる細胞から、必要な細胞を作って移植する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38218" y="155448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456681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38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4058" y="178308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CAR-T療法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66818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 </a:t>
            </a:r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件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1298" y="2743200"/>
            <a:ext cx="1503578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" name="Shape 14"/>
          <p:cNvSpPr/>
          <p:nvPr/>
        </p:nvSpPr>
        <p:spPr>
          <a:xfrm>
            <a:off x="6121298" y="2743200"/>
            <a:ext cx="1503578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566818" y="3090672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免疫細胞にがんを見つける力を持たせ、がんを攻撃する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127797" y="155448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8356397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417" y="19431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33637" y="178308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CAR-T以外の免疫細胞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356397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 </a:t>
            </a:r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件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910877" y="2743200"/>
            <a:ext cx="1503578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7" name="Shape 21"/>
          <p:cNvSpPr/>
          <p:nvPr/>
        </p:nvSpPr>
        <p:spPr>
          <a:xfrm>
            <a:off x="9910877" y="2743200"/>
            <a:ext cx="225537" cy="1463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356397" y="3090672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がんと闘うさまざまな免疫細胞を利用する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379476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30" name="Shape 24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18338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54480" y="402336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造血幹細胞の遺伝子治療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4754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 </a:t>
            </a:r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9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件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2331720" y="4983480"/>
            <a:ext cx="1503578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5" name="Shape 28"/>
          <p:cNvSpPr/>
          <p:nvPr/>
        </p:nvSpPr>
        <p:spPr>
          <a:xfrm>
            <a:off x="2331720" y="4983480"/>
            <a:ext cx="676610" cy="1463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777240" y="5330952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血液のもとになる細胞の遺伝子を直して、体に戻す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338218" y="379476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38" name="Shape 31"/>
          <p:cNvSpPr/>
          <p:nvPr/>
        </p:nvSpPr>
        <p:spPr>
          <a:xfrm>
            <a:off x="4566818" y="4023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838" y="418338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5344058" y="402336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体性幹細胞(間葉系など)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4566818" y="4754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 </a:t>
            </a:r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件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121298" y="4983480"/>
            <a:ext cx="1503578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3" name="Shape 35"/>
          <p:cNvSpPr/>
          <p:nvPr/>
        </p:nvSpPr>
        <p:spPr>
          <a:xfrm>
            <a:off x="6121298" y="4983480"/>
            <a:ext cx="601431" cy="1463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4566818" y="5330952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骨髄や皮膚などにある幹細胞を利用する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127797" y="3794760"/>
            <a:ext cx="3515258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6" name="Shape 38"/>
          <p:cNvSpPr/>
          <p:nvPr/>
        </p:nvSpPr>
        <p:spPr>
          <a:xfrm>
            <a:off x="8356397" y="4023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417" y="4183380"/>
            <a:ext cx="320040" cy="32004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133637" y="402336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組織工学・体細胞製品</a:t>
            </a:r>
            <a:endParaRPr lang="en-US" sz="1500" dirty="0"/>
          </a:p>
        </p:txBody>
      </p:sp>
      <p:sp>
        <p:nvSpPr>
          <p:cNvPr id="49" name="Text 40"/>
          <p:cNvSpPr txBox="1"/>
          <p:nvPr/>
        </p:nvSpPr>
        <p:spPr>
          <a:xfrm>
            <a:off x="8356397" y="4754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 </a:t>
            </a:r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件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9910877" y="4983480"/>
            <a:ext cx="1503578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1" name="Shape 42"/>
          <p:cNvSpPr/>
          <p:nvPr/>
        </p:nvSpPr>
        <p:spPr>
          <a:xfrm>
            <a:off x="9910877" y="4983480"/>
            <a:ext cx="375895" cy="1463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8356397" y="5330952"/>
            <a:ext cx="3058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軟骨や角膜などの細胞を育てて移植する</a:t>
            </a:r>
            <a:endParaRPr lang="en-US" sz="1100" dirty="0"/>
          </a:p>
        </p:txBody>
      </p:sp>
      <p:sp>
        <p:nvSpPr>
          <p:cNvPr id="53" name="Text 4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件数は承認済み(確認済み)47件を領域別に本資料で集計した延べ件数。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全体像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いま有効な承認の3分の2は、2021年以降に得られた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321040" y="1600200"/>
            <a:ext cx="3319272" cy="4206240"/>
          </a:xfrm>
          <a:prstGeom prst="roundRect">
            <a:avLst>
              <a:gd name="adj" fmla="val 2755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5496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主な節目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549640" y="2185416"/>
            <a:ext cx="658368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549640" y="21854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2007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32688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日本でジェイス(自家培養表皮)承認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549640" y="2843784"/>
            <a:ext cx="658368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49640" y="284378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2017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326880" y="2734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米国初のCAR-T、Kymriah承認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549640" y="3502152"/>
            <a:ext cx="658368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549640" y="35021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2023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33924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CRISPR/Cas9を用いたCasgevy承認(米国)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549640" y="4160520"/>
            <a:ext cx="658368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549640" y="41605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9326880" y="4050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世界初のiPS細胞由来製品 アムシェプリ承認(日本)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549640" y="4773168"/>
            <a:ext cx="2880360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549640" y="4846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29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 / 44件</a:t>
            </a:r>
            <a:endParaRPr lang="en-US" sz="3000" dirty="0"/>
          </a:p>
        </p:txBody>
      </p:sp>
      <p:sp>
        <p:nvSpPr>
          <p:cNvPr id="22" name="Text 18"/>
          <p:cNvSpPr txBox="1"/>
          <p:nvPr/>
        </p:nvSpPr>
        <p:spPr>
          <a:xfrm>
            <a:off x="10195560" y="4846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が2021年以降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承認日を確認できた44件を本資料で集計(確認済み47件のうち3件は日付未確認)。取消済みの承認は含まない。2026年は10月2日まで。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薬として認められるまで:治験は3つの段階で進む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383475" cy="822960"/>
          </a:xfrm>
          <a:prstGeom prst="homePlat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18531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前臨床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18531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細胞や動物で確かめる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67523" y="1600200"/>
            <a:ext cx="2383475" cy="82296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41843" y="1600200"/>
            <a:ext cx="18531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第I相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996123" y="2560320"/>
            <a:ext cx="18531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少人数で、主に安全性を確かめる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86406" y="1600200"/>
            <a:ext cx="2383475" cy="82296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60726" y="1600200"/>
            <a:ext cx="18531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第II相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215006" y="2560320"/>
            <a:ext cx="18531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効果があるか、適切な使い方を探る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05289" y="1600200"/>
            <a:ext cx="2383475" cy="82296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79609" y="1600200"/>
            <a:ext cx="18531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第III相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433889" y="2560320"/>
            <a:ext cx="18531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多くの患者で、効果と安全性を確かめる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424172" y="1600200"/>
            <a:ext cx="2218883" cy="8229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98492" y="1600200"/>
            <a:ext cx="18531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承認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652772" y="2560320"/>
            <a:ext cx="18531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国が製造と販売を認める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2767523" y="3200400"/>
            <a:ext cx="66566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人で確かめる試験(治験)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950403" y="3200400"/>
            <a:ext cx="6382329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graphicFrame>
        <p:nvGraphicFramePr>
          <p:cNvPr id="22" name="Chart 0" descr=""/>
          <p:cNvGraphicFramePr/>
          <p:nvPr/>
        </p:nvGraphicFramePr>
        <p:xfrm>
          <a:off x="548640" y="3611880"/>
          <a:ext cx="65836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19"/>
          <p:cNvSpPr/>
          <p:nvPr/>
        </p:nvSpPr>
        <p:spPr>
          <a:xfrm>
            <a:off x="7498080" y="3657600"/>
            <a:ext cx="4142232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68096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日本の「条件及び期限付承認」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41330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効果が見込まれると判断された段階で、条件と期限を付けて早く承認する制度。市販後に、あらためて効果を確かめる。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51206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アムシェプリ、リハート、ステミラック注がこの制度で承認された。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国別比較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5地域の現在地:承認は米国、治験は日本が最多</a:t>
            </a:r>
            <a:endParaRPr lang="en-US" sz="2800" dirty="0"/>
          </a:p>
        </p:txBody>
      </p:sp>
      <p:pic>
        <p:nvPicPr>
          <p:cNvPr id="5" name="Image 0" descr="対象5地域を示した世界地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8138160" cy="319052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95001" y="2577621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595001" y="25776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057816" y="2438902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057816" y="2438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00991" y="2184585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600991" y="21845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728010" y="2531381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28010" y="2531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71324" y="2462022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1324" y="2462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875520" y="1600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承認済み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744200" y="1600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治験中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915400" y="1920240"/>
            <a:ext cx="2724912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9006840" y="2039112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00684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9354312" y="19202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日本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9875520" y="19202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12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0744200" y="19202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27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915400" y="2523744"/>
            <a:ext cx="2724912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25" name="Shape 21"/>
          <p:cNvSpPr/>
          <p:nvPr/>
        </p:nvSpPr>
        <p:spPr>
          <a:xfrm>
            <a:off x="9006840" y="2642616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00684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354312" y="252374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米国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875520" y="252374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18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10744200" y="252374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26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8915400" y="3127248"/>
            <a:ext cx="2724912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31" name="Shape 27"/>
          <p:cNvSpPr/>
          <p:nvPr/>
        </p:nvSpPr>
        <p:spPr>
          <a:xfrm>
            <a:off x="9006840" y="324612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0068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354312" y="31272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欧州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9875520" y="312724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7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10744200" y="312724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8915400" y="3730752"/>
            <a:ext cx="2724912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37" name="Shape 33"/>
          <p:cNvSpPr/>
          <p:nvPr/>
        </p:nvSpPr>
        <p:spPr>
          <a:xfrm>
            <a:off x="9006840" y="3849624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90068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9354312" y="373075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中国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9875520" y="37307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7</a:t>
            </a:r>
            <a:endParaRPr lang="en-US" sz="2200" dirty="0"/>
          </a:p>
        </p:txBody>
      </p:sp>
      <p:sp>
        <p:nvSpPr>
          <p:cNvPr id="41" name="Text 37"/>
          <p:cNvSpPr txBox="1"/>
          <p:nvPr/>
        </p:nvSpPr>
        <p:spPr>
          <a:xfrm>
            <a:off x="10744200" y="37307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17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8915400" y="4334256"/>
            <a:ext cx="2724912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43" name="Shape 39"/>
          <p:cNvSpPr/>
          <p:nvPr/>
        </p:nvSpPr>
        <p:spPr>
          <a:xfrm>
            <a:off x="9006840" y="4453128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006840" y="4453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9354312" y="433425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韓国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9875520" y="433425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47" name="Text 43"/>
          <p:cNvSpPr txBox="1"/>
          <p:nvPr/>
        </p:nvSpPr>
        <p:spPr>
          <a:xfrm>
            <a:off x="10744200" y="433425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48" name="Text 44"/>
          <p:cNvSpPr txBox="1"/>
          <p:nvPr/>
        </p:nvSpPr>
        <p:spPr>
          <a:xfrm>
            <a:off x="8915400" y="4956048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単位:件(延べ)。橙色は各項目の最多。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548640" y="5349240"/>
            <a:ext cx="2567864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731520" y="539496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承認が最多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731520" y="565099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米国 18件</a:t>
            </a:r>
            <a:endParaRPr lang="en-US" sz="1700" dirty="0"/>
          </a:p>
        </p:txBody>
      </p:sp>
      <p:sp>
        <p:nvSpPr>
          <p:cNvPr id="52" name="Shape 48"/>
          <p:cNvSpPr/>
          <p:nvPr/>
        </p:nvSpPr>
        <p:spPr>
          <a:xfrm>
            <a:off x="3390824" y="5349240"/>
            <a:ext cx="2567864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3573704" y="539496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治験中が最多</a:t>
            </a:r>
            <a:endParaRPr lang="en-US" sz="1100" dirty="0"/>
          </a:p>
        </p:txBody>
      </p:sp>
      <p:sp>
        <p:nvSpPr>
          <p:cNvPr id="54" name="Text 50"/>
          <p:cNvSpPr txBox="1"/>
          <p:nvPr/>
        </p:nvSpPr>
        <p:spPr>
          <a:xfrm>
            <a:off x="3573704" y="565099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日本 27件</a:t>
            </a:r>
            <a:endParaRPr lang="en-US" sz="1700" dirty="0"/>
          </a:p>
        </p:txBody>
      </p:sp>
      <p:sp>
        <p:nvSpPr>
          <p:cNvPr id="55" name="Shape 51"/>
          <p:cNvSpPr/>
          <p:nvPr/>
        </p:nvSpPr>
        <p:spPr>
          <a:xfrm>
            <a:off x="6233008" y="5349240"/>
            <a:ext cx="2567864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6415888" y="539496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承認取消・失効が最多</a:t>
            </a:r>
            <a:endParaRPr lang="en-US" sz="1100" dirty="0"/>
          </a:p>
        </p:txBody>
      </p:sp>
      <p:sp>
        <p:nvSpPr>
          <p:cNvPr id="57" name="Text 53"/>
          <p:cNvSpPr txBox="1"/>
          <p:nvPr/>
        </p:nvSpPr>
        <p:spPr>
          <a:xfrm>
            <a:off x="6415888" y="565099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欧州 5件</a:t>
            </a:r>
            <a:endParaRPr lang="en-US" sz="1700" dirty="0"/>
          </a:p>
        </p:txBody>
      </p:sp>
      <p:sp>
        <p:nvSpPr>
          <p:cNvPr id="58" name="Shape 54"/>
          <p:cNvSpPr/>
          <p:nvPr/>
        </p:nvSpPr>
        <p:spPr>
          <a:xfrm>
            <a:off x="9075191" y="5349240"/>
            <a:ext cx="2567864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9258071" y="539496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全品目(延べ)</a:t>
            </a:r>
            <a:endParaRPr lang="en-US" sz="1100" dirty="0"/>
          </a:p>
        </p:txBody>
      </p:sp>
      <p:sp>
        <p:nvSpPr>
          <p:cNvPr id="60" name="Text 56"/>
          <p:cNvSpPr txBox="1"/>
          <p:nvPr/>
        </p:nvSpPr>
        <p:spPr>
          <a:xfrm>
            <a:off x="9258071" y="5650992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5地域で148件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国別比較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開発段階の内訳:欧州は承認取消・失効が目立つ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503920" y="1645920"/>
            <a:ext cx="313639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0" y="1719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日本・米国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011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治験中が全体の半数以上。開発の裾野が広い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503920" y="2697480"/>
            <a:ext cx="313639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0" y="2770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欧州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3063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21件のうち5件が承認取消・失効。承認済みは7件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503920" y="3749040"/>
            <a:ext cx="313639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中国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0" y="4114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承認7件、治験中17件。中止・取消は確認されず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503920" y="4800600"/>
            <a:ext cx="313639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686800" y="4873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韓国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0" y="5166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8件と少ないが、情報の確認が限定的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国別比較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承認の6割超は米国と日本、後期の治験は米国が厚い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承認済み47件の地域別構成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4480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205740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計47件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治験中77件の相別内訳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5486400" y="1783080"/>
          <a:ext cx="615391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第I相系は第I相・第I/II相、第II相系は第II相・第II/III相、第III相系は第III相・第I/II/III相。同一品目は最も進んだ段階で数える。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全製品マップ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承認済み47件の全体像:どの国で、どの領域が承認されたか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1920240"/>
                <a:gridCol w="1920240"/>
                <a:gridCol w="192024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領域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 12件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米国 18件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欧州 7件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 7件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韓国 3件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多能性幹細胞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(iPS・ES)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アムシェプリ、リハート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CAR-T療法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Kymriah, Yescarta, Breyanzi, Abecma, Carvykti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Kymriah, Yescarta, Breyanzi, Abecma, Carvykti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Kymriah, Abecma, Carvykti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奕凱達(Yescarta現地版), HICARA, FUCASO, zevor-cel, Carvykti, satri-cel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Carvykti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CAR-T以外の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免疫細胞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Amtagvi, Tecelra, Provenge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造血幹細胞の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遺伝子治療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Zynteglo, Lyfgenia, Casgevy, Waskyra, Skysona, Lenmeldy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Casgevy, Strimvelis, Libmeldy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体性幹細胞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TEMCELL HS注、ジェイス、ステミラック注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Ryoncil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Holoclar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艾米迈托赛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CARTISTEM, Cellgram-AMI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組織工学・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体細胞製品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JACC、ビズノバ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MACI, Lantidra, Symvess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「–」は本調査で承認を確認できなかったことを示す(未承認を意味しない)。zevor-celはzevorcabtagene autoleucel。色が濃いほど件数が多い。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規制制度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各国とも、新しい治療を早く届ける仕組みを整えてきた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473175" y="2057400"/>
            <a:ext cx="9245346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54303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184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1992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267712"/>
            <a:ext cx="173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米国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2542032"/>
            <a:ext cx="1739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Accelerated Approval(迅速承認)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3372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97709" y="1554480"/>
            <a:ext cx="184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2007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452573" y="2267712"/>
            <a:ext cx="173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欧州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452573" y="2542032"/>
            <a:ext cx="1739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ATMP規則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(EC 1394/2007)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52441" y="193852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46778" y="1554480"/>
            <a:ext cx="184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301642" y="2267712"/>
            <a:ext cx="173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日本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301642" y="2542032"/>
            <a:ext cx="1739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条件及び期限付承認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(11月施行)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1510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95848" y="1554480"/>
            <a:ext cx="184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2016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150712" y="2267712"/>
            <a:ext cx="173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米国・欧州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150712" y="2542032"/>
            <a:ext cx="1739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RMAT指定(米)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PRIME(欧)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50579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944917" y="1554480"/>
            <a:ext cx="184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2019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999781" y="2267712"/>
            <a:ext cx="173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中国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999781" y="2542032"/>
            <a:ext cx="1739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附条件批准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(薬品管理法 第26条)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599649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793986" y="1554480"/>
            <a:ext cx="184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2020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848850" y="2267712"/>
            <a:ext cx="1739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韓国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848850" y="2542032"/>
            <a:ext cx="1739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先端再生バイオ法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施行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754880"/>
                <a:gridCol w="5239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国・地域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主な早期承認の枠組み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本レポートで確認した該当例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条件及び期限付承認(期限は7年を超えない範囲)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アムシェプリ、リハート、ステミラック注。ハートシートは2024年に承認整理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米国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RMAT指定、Breakthrough Therapy、Accelerated Approval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Amtagvi、Tecelra(加速承認)。AURN001はBT・RMAT両指定(未承認)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ATMP規則、条件付き販売承認、PRIME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Casgevy、Zynteglo(条件付き承認。Zyntegloはのちに取消)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附条件批准。薬品全般が対象で、細胞治療専用の制度は未確認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品目ごとの該当は未照合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韓国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先端再生バイオ法に基づく条件付き品目許可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多能性幹細胞は、体のさまざまな細胞になれる「もと」の細胞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926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2F5F8F"/>
          </a:solidFill>
          <a:ln/>
        </p:spPr>
      </p:sp>
      <p:sp>
        <p:nvSpPr>
          <p:cNvPr id="7" name="Shape 4"/>
          <p:cNvSpPr/>
          <p:nvPr/>
        </p:nvSpPr>
        <p:spPr>
          <a:xfrm>
            <a:off x="941832" y="1971446"/>
            <a:ext cx="230429" cy="230429"/>
          </a:xfrm>
          <a:prstGeom prst="ellipse">
            <a:avLst/>
          </a:prstGeom>
          <a:solidFill>
            <a:srgbClr val="9DBBD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63040" y="18013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ES細胞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受精卵が育ち始めた、ごく初期の胚から作る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66160" y="2286000"/>
            <a:ext cx="45720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3474720"/>
            <a:ext cx="2926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C2540F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3845966"/>
            <a:ext cx="230429" cy="230429"/>
          </a:xfrm>
          <a:prstGeom prst="ellipse">
            <a:avLst/>
          </a:prstGeom>
          <a:solidFill>
            <a:srgbClr val="EDB9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63040" y="3675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iPS細胞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343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皮膚や血液などの細胞に、数種類の遺伝子を入れて作る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566160" y="4160520"/>
            <a:ext cx="457200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2240280"/>
            <a:ext cx="1828800" cy="18288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8" name="Shape 15"/>
          <p:cNvSpPr/>
          <p:nvPr/>
        </p:nvSpPr>
        <p:spPr>
          <a:xfrm>
            <a:off x="4892040" y="2715768"/>
            <a:ext cx="768096" cy="768096"/>
          </a:xfrm>
          <a:prstGeom prst="ellipse">
            <a:avLst/>
          </a:prstGeom>
          <a:solidFill>
            <a:srgbClr val="9DBBD9"/>
          </a:solidFill>
          <a:ln/>
        </p:spPr>
      </p:sp>
      <p:sp>
        <p:nvSpPr>
          <p:cNvPr id="19" name="Shape 16"/>
          <p:cNvSpPr/>
          <p:nvPr/>
        </p:nvSpPr>
        <p:spPr>
          <a:xfrm>
            <a:off x="5623560" y="2011680"/>
            <a:ext cx="731520" cy="731520"/>
          </a:xfrm>
          <a:prstGeom prst="ellipse">
            <a:avLst/>
          </a:prstGeom>
          <a:solidFill>
            <a:srgbClr val="2F5F8F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843016" y="2201875"/>
            <a:ext cx="307238" cy="307238"/>
          </a:xfrm>
          <a:prstGeom prst="ellipse">
            <a:avLst/>
          </a:prstGeom>
          <a:solidFill>
            <a:srgbClr val="9DBBD9">
              <a:alpha val="9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114800" y="3657600"/>
            <a:ext cx="640080" cy="640080"/>
          </a:xfrm>
          <a:prstGeom prst="ellipse">
            <a:avLst/>
          </a:prstGeom>
          <a:solidFill>
            <a:srgbClr val="2F5F8F">
              <a:alpha val="7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306824" y="3824021"/>
            <a:ext cx="268834" cy="268834"/>
          </a:xfrm>
          <a:prstGeom prst="ellipse">
            <a:avLst/>
          </a:prstGeom>
          <a:solidFill>
            <a:srgbClr val="9DBBD9">
              <a:alpha val="85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977640" y="4343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多能性幹細胞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397764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ほぼ無限に増やせる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体のさまざまな細胞になれる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83680" y="3108960"/>
            <a:ext cx="502920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269480" y="15361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目的の細胞に変化させて移植する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69480" y="1901952"/>
            <a:ext cx="2139696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28" name="Shape 25"/>
          <p:cNvSpPr/>
          <p:nvPr/>
        </p:nvSpPr>
        <p:spPr>
          <a:xfrm>
            <a:off x="7379208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0823" y="2224735"/>
            <a:ext cx="396850" cy="39685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110728" y="20299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神経の細胞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8110728" y="243230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パーキンソン病、脊髄損傷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9500616" y="1901952"/>
            <a:ext cx="2139696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33" name="Shape 29"/>
          <p:cNvSpPr/>
          <p:nvPr/>
        </p:nvSpPr>
        <p:spPr>
          <a:xfrm>
            <a:off x="9610344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959" y="2224735"/>
            <a:ext cx="396850" cy="39685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0341864" y="202996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心臓の細胞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10341864" y="243230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重い心不全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269480" y="3063240"/>
            <a:ext cx="2139696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38" name="Shape 33"/>
          <p:cNvSpPr/>
          <p:nvPr/>
        </p:nvSpPr>
        <p:spPr>
          <a:xfrm>
            <a:off x="7379208" y="3264408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823" y="3386023"/>
            <a:ext cx="396850" cy="39685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110728" y="319125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目の細胞</a:t>
            </a:r>
            <a:endParaRPr lang="en-US" sz="1250" dirty="0"/>
          </a:p>
        </p:txBody>
      </p:sp>
      <p:sp>
        <p:nvSpPr>
          <p:cNvPr id="41" name="Text 35"/>
          <p:cNvSpPr txBox="1"/>
          <p:nvPr/>
        </p:nvSpPr>
        <p:spPr>
          <a:xfrm>
            <a:off x="8110728" y="359359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網膜や角膜の病気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9500616" y="3063240"/>
            <a:ext cx="2139696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3" name="Shape 37"/>
          <p:cNvSpPr/>
          <p:nvPr/>
        </p:nvSpPr>
        <p:spPr>
          <a:xfrm>
            <a:off x="9610344" y="3264408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959" y="3386023"/>
            <a:ext cx="396850" cy="39685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0341864" y="319125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膵臓の細胞</a:t>
            </a:r>
            <a:endParaRPr lang="en-US" sz="1250" dirty="0"/>
          </a:p>
        </p:txBody>
      </p:sp>
      <p:sp>
        <p:nvSpPr>
          <p:cNvPr id="46" name="Text 39"/>
          <p:cNvSpPr txBox="1"/>
          <p:nvPr/>
        </p:nvSpPr>
        <p:spPr>
          <a:xfrm>
            <a:off x="10341864" y="359359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1型糖尿病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7269480" y="4224528"/>
            <a:ext cx="2139696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8" name="Shape 41"/>
          <p:cNvSpPr/>
          <p:nvPr/>
        </p:nvSpPr>
        <p:spPr>
          <a:xfrm>
            <a:off x="7379208" y="4425696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823" y="4547311"/>
            <a:ext cx="396850" cy="39685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110728" y="435254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血液の細胞</a:t>
            </a:r>
            <a:endParaRPr lang="en-US" sz="1250" dirty="0"/>
          </a:p>
        </p:txBody>
      </p:sp>
      <p:sp>
        <p:nvSpPr>
          <p:cNvPr id="51" name="Text 43"/>
          <p:cNvSpPr txBox="1"/>
          <p:nvPr/>
        </p:nvSpPr>
        <p:spPr>
          <a:xfrm>
            <a:off x="8110728" y="4754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血小板の不足、がん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9500616" y="4224528"/>
            <a:ext cx="2139696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53" name="Shape 45"/>
          <p:cNvSpPr/>
          <p:nvPr/>
        </p:nvSpPr>
        <p:spPr>
          <a:xfrm>
            <a:off x="9610344" y="4425696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1959" y="4547311"/>
            <a:ext cx="396850" cy="39685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341864" y="435254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軟骨の細胞</a:t>
            </a:r>
            <a:endParaRPr lang="en-US" sz="1250" dirty="0"/>
          </a:p>
        </p:txBody>
      </p:sp>
      <p:sp>
        <p:nvSpPr>
          <p:cNvPr id="56" name="Text 47"/>
          <p:cNvSpPr txBox="1"/>
          <p:nvPr/>
        </p:nvSpPr>
        <p:spPr>
          <a:xfrm>
            <a:off x="10341864" y="4754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ひざの軟骨損傷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548640" y="5468112"/>
            <a:ext cx="11094415" cy="512064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731520" y="5468112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これに対し、体性幹細胞(骨髄にある間葉系幹細胞や造血幹細胞など)は、なれる細胞の種類が限られている。</a:t>
            </a:r>
            <a:endParaRPr lang="en-US" sz="1200" dirty="0"/>
          </a:p>
        </p:txBody>
      </p:sp>
      <p:sp>
        <p:nvSpPr>
          <p:cNvPr id="59" name="Text 50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橙色は、iPS細胞由来の製品が日本で承認された領域(神経:アムシェプリ、心臓:リハート)。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多能性幹細胞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iPS細胞由来の製品が、日本で2品目承認された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64328" cy="3063240"/>
          </a:xfrm>
          <a:prstGeom prst="roundRect">
            <a:avLst>
              <a:gd name="adj" fmla="val 2985"/>
            </a:avLst>
          </a:prstGeom>
          <a:solidFill>
            <a:schemeClr val="bg1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399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パーキンソン病|住友ファーマ / 京都大学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10312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アムシェプリ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88920"/>
            <a:ext cx="4815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他人のiPS細胞から作った、ドパミンを出す神経のもとになる細胞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世界初のiPS細胞由来再生医療等製品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治験で7名に移植。効果を評価した6名中4名で運動症状が改善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78728" y="1600200"/>
            <a:ext cx="5364328" cy="3063240"/>
          </a:xfrm>
          <a:prstGeom prst="roundRect">
            <a:avLst>
              <a:gd name="adj" fmla="val 2985"/>
            </a:avLst>
          </a:prstGeom>
          <a:solidFill>
            <a:schemeClr val="bg1"/>
          </a:solidFill>
          <a:ln/>
        </p:spPr>
      </p:sp>
      <p:sp>
        <p:nvSpPr>
          <p:cNvPr id="12" name="Shape 8"/>
          <p:cNvSpPr/>
          <p:nvPr/>
        </p:nvSpPr>
        <p:spPr>
          <a:xfrm>
            <a:off x="6553048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2011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67448" y="1828800"/>
            <a:ext cx="399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重症心不全|クオリプス / 大阪大学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467448" y="210312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リハート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6553048" y="2788920"/>
            <a:ext cx="4815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他人のiPS細胞から作った、心臓の筋肉(心筋)のシート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標準的な治療で効果が不十分な、重い心不全が対象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治験では目標10例中8例に移植を実施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98348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40080" y="4983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医師主導治験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017520" y="5285232"/>
            <a:ext cx="384048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0" name="Shape 15"/>
          <p:cNvSpPr/>
          <p:nvPr/>
        </p:nvSpPr>
        <p:spPr>
          <a:xfrm>
            <a:off x="3488436" y="4983480"/>
            <a:ext cx="3108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3579876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条件及び期限付承認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(2026年3月6日)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88836" y="5285232"/>
            <a:ext cx="384048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3" name="Shape 18"/>
          <p:cNvSpPr/>
          <p:nvPr/>
        </p:nvSpPr>
        <p:spPr>
          <a:xfrm>
            <a:off x="7159752" y="498348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251192" y="4983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市販後に有効性を検証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(製造販売後臨床試験・使用成績調査)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B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多能性幹細胞パイプライン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神経領域:パーキンソン病で5地域が開発を進める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542032" y="1554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233672" y="1554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開発主体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28232" y="1554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976872" y="15544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由来細胞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619683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375526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131369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887212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1975104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1975104"/>
            <a:ext cx="11094415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889504"/>
            <a:ext cx="11094415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3803904"/>
            <a:ext cx="11094415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718304"/>
            <a:ext cx="11094415" cy="457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8619683" y="1975104"/>
            <a:ext cx="0" cy="36576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9375526" y="1975104"/>
            <a:ext cx="0" cy="36576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0131369" y="1975104"/>
            <a:ext cx="0" cy="36576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0887212" y="1975104"/>
            <a:ext cx="0" cy="36576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621792" y="19751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アムシェプリ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2542032" y="19751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パーキンソン病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233672" y="19751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京都大学/住友ファーマ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28232" y="19751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976872" y="19751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iPS・他家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909560" y="2066544"/>
            <a:ext cx="3687775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001000" y="2066544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条件及び期限付承認(2026年3月)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" y="24323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CT1-DAP001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2542032" y="24323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パーキンソン病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233672" y="24323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UCSD/住友ファーマ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28232" y="24323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976872" y="24323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909560" y="2523744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402958" y="2432304"/>
            <a:ext cx="2221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第I/II相・募集中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21792" y="28895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NouvNeu001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2542032" y="28895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パーキンソン病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233672" y="28895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iRegene Therapeutics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428232" y="28895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976872" y="28895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未確認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909560" y="2980944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402958" y="2889504"/>
            <a:ext cx="2221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第I/II相・募集中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21792" y="33467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STEM-PD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2542032" y="3346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パーキンソン病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233672" y="33467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Region Skane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428232" y="33467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欧州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6976872" y="33467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09560" y="3438144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402958" y="3346704"/>
            <a:ext cx="2221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第I相・実施中(募集終了)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1792" y="38039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TED-A9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2542032" y="38039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パーキンソン病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233672" y="38039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S.BIOMEDICS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428232" y="38039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韓国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976872" y="38039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7909560" y="3895344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402958" y="3803904"/>
            <a:ext cx="2221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第I/IIa相(企業発表)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21792" y="42611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hiPSC-DAP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2542032" y="42611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パーキンソン病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233672" y="42611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Shanghai East Hosp./XellSmart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428232" y="42611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中国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6976872" y="42611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iPS・自家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927848" y="4398264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02168" y="4261104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相未記載・募集中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621792" y="47183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OPC1</a:t>
            </a:r>
            <a:endParaRPr lang="en-US" sz="1150" dirty="0"/>
          </a:p>
        </p:txBody>
      </p:sp>
      <p:sp>
        <p:nvSpPr>
          <p:cNvPr id="67" name="Text 64"/>
          <p:cNvSpPr txBox="1"/>
          <p:nvPr/>
        </p:nvSpPr>
        <p:spPr>
          <a:xfrm>
            <a:off x="2542032" y="47183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亜急性頸髄損傷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4233672" y="47183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Lineage Cell Therapeutics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6428232" y="47183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6976872" y="47183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未確認・他家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7909560" y="4809744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9402958" y="4718304"/>
            <a:ext cx="2221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第I/IIa相・主要完了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621792" y="51755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iPS神経前駆細胞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2542032" y="51755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亜急性期脊髄損傷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4233672" y="51755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慶應義塾大学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6428232" y="517550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77" name="Text 74"/>
          <p:cNvSpPr txBox="1"/>
          <p:nvPr/>
        </p:nvSpPr>
        <p:spPr>
          <a:xfrm>
            <a:off x="6976872" y="517550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iPS・他家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7927848" y="5312664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02168" y="5175504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臨床研究・終了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548640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749808" y="5760720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1271016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1472184" y="5760720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2125980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2327148" y="5760720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完了・終了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3255264" y="5788152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447288" y="5760720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多能性幹細胞パイプライン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眼科領域:網膜と角膜で日米の治験が進む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542032" y="1554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233672" y="1554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開発主体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28232" y="1554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976872" y="15544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由来細胞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619683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375526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131369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887212" y="155448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1975104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1975104"/>
            <a:ext cx="11094415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108960"/>
            <a:ext cx="11094415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4242816"/>
            <a:ext cx="11094415" cy="5669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8619683" y="1975104"/>
            <a:ext cx="0" cy="340156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9375526" y="1975104"/>
            <a:ext cx="0" cy="340156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131369" y="1975104"/>
            <a:ext cx="0" cy="340156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0887212" y="1975104"/>
            <a:ext cx="0" cy="340156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21792" y="19751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OpRegen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542032" y="197510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地図状萎縮(加齢黄斑変性)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233672" y="197510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Lineage Cell Therapeutics/Roche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428232" y="1975104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1975104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ES・他家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09560" y="2121408"/>
            <a:ext cx="2176089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158801" y="1975104"/>
            <a:ext cx="14659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第2a相・進行中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1792" y="2542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CPCB-RPE1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2542032" y="254203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進行性の乾性加齢黄斑変性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233672" y="254203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Regenerative Patch Technologies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428232" y="2542032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976872" y="2542032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未確認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909560" y="2688336"/>
            <a:ext cx="2176089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158801" y="2542032"/>
            <a:ext cx="14659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第IIb相・募集中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1792" y="310896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REM-01(角膜シート)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2542032" y="3108960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角膜上皮幹細胞疲弊症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233672" y="310896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大阪大学/レイメイ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28232" y="310896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976872" y="3108960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iPS・他家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909560" y="3255264"/>
            <a:ext cx="2176089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0158801" y="3108960"/>
            <a:ext cx="14659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第2相・募集中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21792" y="367588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自家iPS-RPE移植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2542032" y="3675888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地図状萎縮(加齢黄斑変性)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4233672" y="367588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National Eye Institute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28232" y="3675888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976872" y="3675888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iPS・自家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909560" y="3822192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402958" y="3675888"/>
            <a:ext cx="22218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第I/IIa相・募集中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21792" y="424281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HLCR011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2542032" y="4242816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網膜色素上皮裂孔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233672" y="424281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住友ファーマ/ヒーリオス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428232" y="4242816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976872" y="4242816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iPS・他家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909560" y="4389120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9402958" y="4242816"/>
            <a:ext cx="22218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第1/2相(治験計画届を提出)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621792" y="480974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hESC-RPE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2542032" y="480974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Stargardt黄斑ジストロフィー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4233672" y="480974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陸軍軍医大学西南病院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428232" y="4809744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中国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976872" y="4809744"/>
            <a:ext cx="850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ES・他家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7909560" y="4956048"/>
            <a:ext cx="1420246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9402958" y="4809744"/>
            <a:ext cx="22218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第I相・追跡完了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548640" y="553212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749808" y="5504688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1403604" y="553212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1604772" y="5504688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完了・終了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577900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承認に至った品目は確認できていない。由来細胞の「未確認」は一次情報で確認できなかったことを示す。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多能性幹細胞パイプライン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循環器・代謝領域:心不全と1型糖尿病で後期試験へ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542032" y="14813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233672" y="1481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開発主体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28232" y="1481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976872" y="1481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由来細胞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481328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619683" y="1481328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375526" y="1481328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131369" y="1481328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887212" y="1481328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1901952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231136"/>
            <a:ext cx="11094415" cy="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231136"/>
            <a:ext cx="11094415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2889504"/>
            <a:ext cx="11094415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3877056"/>
            <a:ext cx="11094415" cy="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877056"/>
            <a:ext cx="11094415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535424"/>
            <a:ext cx="11094415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5193792"/>
            <a:ext cx="11094415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619683" y="1901952"/>
            <a:ext cx="0" cy="362102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9375526" y="1901952"/>
            <a:ext cx="0" cy="362102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10131369" y="1901952"/>
            <a:ext cx="0" cy="362102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887212" y="1901952"/>
            <a:ext cx="0" cy="362102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21792" y="1901952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循環器(重症心不全)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21792" y="22311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リハート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542032" y="223113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重症心不全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233672" y="223113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クオリプス/大阪大学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428232" y="223113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976872" y="223113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iPS・他家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909560" y="2293681"/>
            <a:ext cx="3687775" cy="204094"/>
          </a:xfrm>
          <a:prstGeom prst="roundRect">
            <a:avLst>
              <a:gd name="adj" fmla="val 17921"/>
            </a:avLst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01000" y="2293681"/>
            <a:ext cx="3550615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条件及び期限付承認(2026年3月)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21792" y="2560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HiCM-188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542032" y="2560320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虚血性心不全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4233672" y="256032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HELP Therapeutics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428232" y="256032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976872" y="256032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iPS※・他家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909560" y="2622865"/>
            <a:ext cx="2931932" cy="204094"/>
          </a:xfrm>
          <a:prstGeom prst="roundRect">
            <a:avLst>
              <a:gd name="adj" fmla="val 17921"/>
            </a:avLst>
          </a:prstGeom>
          <a:solidFill>
            <a:schemeClr val="tx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001000" y="2622865"/>
            <a:ext cx="2794772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第3相・募集中(第I/II相は完了)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621792" y="28895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HS-001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2542032" y="288950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重症心不全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233672" y="288950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Heartseed/ノボノルディスク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6428232" y="28895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6976872" y="288950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iPS・他家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909560" y="2952049"/>
            <a:ext cx="2176089" cy="204094"/>
          </a:xfrm>
          <a:prstGeom prst="roundRect">
            <a:avLst>
              <a:gd name="adj" fmla="val 17921"/>
            </a:avLst>
          </a:prstGeom>
          <a:solidFill>
            <a:schemeClr val="tx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10158801" y="2889504"/>
            <a:ext cx="1465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長期試験が第2相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21792" y="321868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HS-005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2542032" y="321868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重症心不全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4233672" y="321868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Heartseed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6428232" y="321868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976872" y="321868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iPS・他家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7909560" y="3281233"/>
            <a:ext cx="1420246" cy="204094"/>
          </a:xfrm>
          <a:prstGeom prst="roundRect">
            <a:avLst>
              <a:gd name="adj" fmla="val 17921"/>
            </a:avLst>
          </a:prstGeom>
          <a:solidFill>
            <a:schemeClr val="tx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9402958" y="3218688"/>
            <a:ext cx="22218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第I/II相・募集中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621792" y="3547872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代謝(1型糖尿病)</a:t>
            </a:r>
            <a:endParaRPr lang="en-US" sz="1050" dirty="0"/>
          </a:p>
        </p:txBody>
      </p:sp>
      <p:sp>
        <p:nvSpPr>
          <p:cNvPr id="57" name="Text 54"/>
          <p:cNvSpPr txBox="1"/>
          <p:nvPr/>
        </p:nvSpPr>
        <p:spPr>
          <a:xfrm>
            <a:off x="621792" y="387705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VX-880(zimislecel)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2542032" y="38770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1型糖尿病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4233672" y="387705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Vertex Pharmaceuticals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6428232" y="38770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6976872" y="387705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幹細胞・他家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7909560" y="3939601"/>
            <a:ext cx="2931932" cy="204094"/>
          </a:xfrm>
          <a:prstGeom prst="roundRect">
            <a:avLst>
              <a:gd name="adj" fmla="val 17921"/>
            </a:avLst>
          </a:prstGeom>
          <a:solidFill>
            <a:schemeClr val="tx2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001000" y="3939601"/>
            <a:ext cx="2794772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第1/2/3相・募集中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21792" y="420624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OZTx-410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2542032" y="4206240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1型糖尿病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4233672" y="420624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京大/オリヅルセラピューティクス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6428232" y="42062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6976872" y="420624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iPS・他家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7909560" y="4268785"/>
            <a:ext cx="1420246" cy="204094"/>
          </a:xfrm>
          <a:prstGeom prst="roundRect">
            <a:avLst>
              <a:gd name="adj" fmla="val 17921"/>
            </a:avLst>
          </a:prstGeom>
          <a:solidFill>
            <a:schemeClr val="tx2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402958" y="4206240"/>
            <a:ext cx="22218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第1/1b相(募集終了)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621792" y="453542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VCTX211</a:t>
            </a:r>
            <a:endParaRPr lang="en-US" sz="1100" dirty="0"/>
          </a:p>
        </p:txBody>
      </p:sp>
      <p:sp>
        <p:nvSpPr>
          <p:cNvPr id="72" name="Text 69"/>
          <p:cNvSpPr txBox="1"/>
          <p:nvPr/>
        </p:nvSpPr>
        <p:spPr>
          <a:xfrm>
            <a:off x="2542032" y="4535424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1型糖尿病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233672" y="453542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CRISPR Therapeutics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428232" y="453542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6976872" y="453542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未確認・他家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7909560" y="4597969"/>
            <a:ext cx="1420246" cy="204094"/>
          </a:xfrm>
          <a:prstGeom prst="roundRect">
            <a:avLst>
              <a:gd name="adj" fmla="val 17921"/>
            </a:avLst>
          </a:prstGeom>
          <a:solidFill>
            <a:schemeClr val="accent5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9402958" y="4535424"/>
            <a:ext cx="22218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第1相・中止(2025年8月)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621792" y="486460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iPS由来膵島細胞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2542032" y="486460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1型糖尿病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4233672" y="486460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北京大学第一医院ほか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6428232" y="48646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6976872" y="486460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iPS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7909560" y="4927153"/>
            <a:ext cx="664403" cy="204094"/>
          </a:xfrm>
          <a:prstGeom prst="roundRect">
            <a:avLst>
              <a:gd name="adj" fmla="val 17921"/>
            </a:avLst>
          </a:prstGeom>
          <a:solidFill>
            <a:schemeClr val="accent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647115" y="4864608"/>
            <a:ext cx="2977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治験開始前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621792" y="51937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再生膵島細胞</a:t>
            </a:r>
            <a:endParaRPr lang="en-US" sz="1100" dirty="0"/>
          </a:p>
        </p:txBody>
      </p:sp>
      <p:sp>
        <p:nvSpPr>
          <p:cNvPr id="86" name="Text 83"/>
          <p:cNvSpPr txBox="1"/>
          <p:nvPr/>
        </p:nvSpPr>
        <p:spPr>
          <a:xfrm>
            <a:off x="2542032" y="5193792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1型糖尿病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4233672" y="519379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上海長征医院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6428232" y="519379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976872" y="519379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未確認・他家</a:t>
            </a:r>
            <a:endParaRPr lang="en-US" sz="1050" dirty="0"/>
          </a:p>
        </p:txBody>
      </p:sp>
      <p:sp>
        <p:nvSpPr>
          <p:cNvPr id="90" name="Shape 87"/>
          <p:cNvSpPr/>
          <p:nvPr/>
        </p:nvSpPr>
        <p:spPr>
          <a:xfrm>
            <a:off x="7927848" y="5276746"/>
            <a:ext cx="163275" cy="163275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8182563" y="5193792"/>
            <a:ext cx="33873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相記載なし・募集中</a:t>
            </a:r>
            <a:endParaRPr lang="en-US" sz="1050" dirty="0"/>
          </a:p>
        </p:txBody>
      </p:sp>
      <p:sp>
        <p:nvSpPr>
          <p:cNvPr id="92" name="Shape 89"/>
          <p:cNvSpPr/>
          <p:nvPr/>
        </p:nvSpPr>
        <p:spPr>
          <a:xfrm>
            <a:off x="548640" y="5678424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749808" y="5650992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1271016" y="5678424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1472184" y="5650992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2125980" y="5678424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2327148" y="5650992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前臨床・開始前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3511296" y="5678424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12464" y="565099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中止・中断・未達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5038344" y="5678424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230368" y="5650992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548640" y="592531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※ HiCM-188は由来細胞の表記に一部不一致あり。HS-001は第I/II相(登録完了)と長期安全性試験(第2相・募集中)。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多能性幹細胞パイプライン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血液・免疫・その他の領域:多くは第I相と前臨床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633472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736592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開発主体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114032" y="14630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146304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19683" y="146304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375526" y="146304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131369" y="146304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887212" y="1463040"/>
            <a:ext cx="75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83664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1883664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2377440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871216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3364992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3858768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4352544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846320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5340096"/>
            <a:ext cx="11094415" cy="2468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8619683" y="1883664"/>
            <a:ext cx="0" cy="395020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9375526" y="1883664"/>
            <a:ext cx="0" cy="395020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10131369" y="1883664"/>
            <a:ext cx="0" cy="395020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887212" y="1883664"/>
            <a:ext cx="0" cy="3950208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21792" y="188366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MEG-002(血小板)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633472" y="188366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再生不良性貧血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736592" y="1883664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京都大学/Megakaryon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114032" y="188366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09560" y="1930573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402958" y="1883664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" y="213055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iCAR-ILC-N101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2633472" y="213055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卵巣明細胞癌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736592" y="2130552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国立がん研究センター/京大CiRA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114032" y="213055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909560" y="2177461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tx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402958" y="2130552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第I相(医師主導治験)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21792" y="2377440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FT819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2633472" y="237744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自己免疫疾患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4736592" y="2377440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Fate Therapeutics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114032" y="237744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米国・欧州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909560" y="2424349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tx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402958" y="2377440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第I相・募集中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21792" y="2624328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CNTY-101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2633472" y="262432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B細胞リンパ腫/自己免疫疾患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4736592" y="2624328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Century Therapeutics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114032" y="262432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909560" y="2671237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tx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402958" y="2624328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リンパ腫は中止、自己免疫は継続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621792" y="287121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HPLC(肝細胞様細胞)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2633472" y="287121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急性肝不全など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4736592" y="2871216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未確認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114032" y="287121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09560" y="2918125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tx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9402958" y="2871216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第I相・募集中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21792" y="311810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FT500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2633472" y="311810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進行性固形がん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4736592" y="3118104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Fate Therapeutics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7114032" y="311810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909560" y="3165013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accent2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9402958" y="3118104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第I相・完了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621792" y="336499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FT522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2633472" y="336499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B細胞リンパ腫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4736592" y="3364992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Fate Therapeutics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7114032" y="336499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7909560" y="3411901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accent2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9402958" y="3364992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第I相・完了(自己免疫は開発中)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621792" y="3611880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iPS-NKT細胞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2633472" y="361188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頭頸部扁平上皮癌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4736592" y="3611880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千葉大学/理化学研究所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114032" y="361188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7909560" y="3658789"/>
            <a:ext cx="1420246" cy="153071"/>
          </a:xfrm>
          <a:prstGeom prst="roundRect">
            <a:avLst>
              <a:gd name="adj" fmla="val 23895"/>
            </a:avLst>
          </a:prstGeom>
          <a:solidFill>
            <a:schemeClr val="accent2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9402958" y="3611880"/>
            <a:ext cx="22218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第I相・完了(併用試験は募集中)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621792" y="3858768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シノビ社T細胞療法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2633472" y="385876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肝がん/大腸がん肝転移/肺がん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4736592" y="3858768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シノビ・セラピューティクス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7114032" y="385876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7909560" y="3905677"/>
            <a:ext cx="664403" cy="153071"/>
          </a:xfrm>
          <a:prstGeom prst="roundRect">
            <a:avLst>
              <a:gd name="adj" fmla="val 23895"/>
            </a:avLst>
          </a:prstGeom>
          <a:solidFill>
            <a:schemeClr val="accent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8647115" y="3858768"/>
            <a:ext cx="29776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治験開始前(2026年度予定)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621792" y="410565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シノビ社NK細胞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633472" y="410565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自己免疫疾患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736592" y="4105656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シノビ・セラピューティクス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7114032" y="410565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7909560" y="4152565"/>
            <a:ext cx="664403" cy="153071"/>
          </a:xfrm>
          <a:prstGeom prst="roundRect">
            <a:avLst>
              <a:gd name="adj" fmla="val 23895"/>
            </a:avLst>
          </a:prstGeom>
          <a:solidFill>
            <a:schemeClr val="accent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8647115" y="4105656"/>
            <a:ext cx="29776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治験開始前(2026年度予定)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621792" y="435254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iγδT細胞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2633472" y="435254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—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4736592" y="4352544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神戸大学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7114032" y="435254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7909560" y="4399453"/>
            <a:ext cx="664403" cy="153071"/>
          </a:xfrm>
          <a:prstGeom prst="roundRect">
            <a:avLst>
              <a:gd name="adj" fmla="val 23895"/>
            </a:avLst>
          </a:prstGeom>
          <a:solidFill>
            <a:schemeClr val="accent3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8647115" y="4352544"/>
            <a:ext cx="29776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前臨床</a:t>
            </a:r>
            <a:endParaRPr lang="en-US" sz="1000" dirty="0"/>
          </a:p>
        </p:txBody>
      </p:sp>
      <p:sp>
        <p:nvSpPr>
          <p:cNvPr id="93" name="Text 90"/>
          <p:cNvSpPr txBox="1"/>
          <p:nvPr/>
        </p:nvSpPr>
        <p:spPr>
          <a:xfrm>
            <a:off x="621792" y="4599432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東大肝臓オルガノイド</a:t>
            </a:r>
            <a:endParaRPr lang="en-US" sz="1050" dirty="0"/>
          </a:p>
        </p:txBody>
      </p:sp>
      <p:sp>
        <p:nvSpPr>
          <p:cNvPr id="94" name="Text 91"/>
          <p:cNvSpPr txBox="1"/>
          <p:nvPr/>
        </p:nvSpPr>
        <p:spPr>
          <a:xfrm>
            <a:off x="2633472" y="459943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肝線維化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736592" y="4599432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東大医科研・横浜市立大学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7114032" y="459943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7909560" y="4646341"/>
            <a:ext cx="664403" cy="153071"/>
          </a:xfrm>
          <a:prstGeom prst="roundRect">
            <a:avLst>
              <a:gd name="adj" fmla="val 23895"/>
            </a:avLst>
          </a:prstGeom>
          <a:solidFill>
            <a:schemeClr val="accent3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8647115" y="4599432"/>
            <a:ext cx="29776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前臨床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621792" y="4846320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京大腎前駆細胞</a:t>
            </a:r>
            <a:endParaRPr lang="en-US" sz="1050" dirty="0"/>
          </a:p>
        </p:txBody>
      </p:sp>
      <p:sp>
        <p:nvSpPr>
          <p:cNvPr id="100" name="Text 97"/>
          <p:cNvSpPr txBox="1"/>
          <p:nvPr/>
        </p:nvSpPr>
        <p:spPr>
          <a:xfrm>
            <a:off x="2633472" y="484632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慢性腎臓病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4736592" y="4846320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京都大学iPS細胞研究所など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7114032" y="484632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7909560" y="4893229"/>
            <a:ext cx="664403" cy="153071"/>
          </a:xfrm>
          <a:prstGeom prst="roundRect">
            <a:avLst>
              <a:gd name="adj" fmla="val 23895"/>
            </a:avLst>
          </a:prstGeom>
          <a:solidFill>
            <a:schemeClr val="accent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8647115" y="4846320"/>
            <a:ext cx="29776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前臨床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621792" y="5093208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京大CiRA下顎骨オルガノイド</a:t>
            </a:r>
            <a:endParaRPr lang="en-US" sz="1050" dirty="0"/>
          </a:p>
        </p:txBody>
      </p:sp>
      <p:sp>
        <p:nvSpPr>
          <p:cNvPr id="106" name="Text 103"/>
          <p:cNvSpPr txBox="1"/>
          <p:nvPr/>
        </p:nvSpPr>
        <p:spPr>
          <a:xfrm>
            <a:off x="2633472" y="509320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骨組織再生</a:t>
            </a:r>
            <a:endParaRPr lang="en-US" sz="1000" dirty="0"/>
          </a:p>
        </p:txBody>
      </p:sp>
      <p:sp>
        <p:nvSpPr>
          <p:cNvPr id="107" name="Text 104"/>
          <p:cNvSpPr txBox="1"/>
          <p:nvPr/>
        </p:nvSpPr>
        <p:spPr>
          <a:xfrm>
            <a:off x="4736592" y="5093208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京都大学iPS細胞研究所など</a:t>
            </a:r>
            <a:endParaRPr lang="en-US" sz="1000" dirty="0"/>
          </a:p>
        </p:txBody>
      </p:sp>
      <p:sp>
        <p:nvSpPr>
          <p:cNvPr id="108" name="Text 105"/>
          <p:cNvSpPr txBox="1"/>
          <p:nvPr/>
        </p:nvSpPr>
        <p:spPr>
          <a:xfrm>
            <a:off x="7114032" y="50932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09" name="Shape 106"/>
          <p:cNvSpPr/>
          <p:nvPr/>
        </p:nvSpPr>
        <p:spPr>
          <a:xfrm>
            <a:off x="7909560" y="5140117"/>
            <a:ext cx="664403" cy="153071"/>
          </a:xfrm>
          <a:prstGeom prst="roundRect">
            <a:avLst>
              <a:gd name="adj" fmla="val 23895"/>
            </a:avLst>
          </a:prstGeom>
          <a:solidFill>
            <a:schemeClr val="accent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8647115" y="5093208"/>
            <a:ext cx="29776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前臨床</a:t>
            </a:r>
            <a:endParaRPr lang="en-US" sz="1000" dirty="0"/>
          </a:p>
        </p:txBody>
      </p:sp>
      <p:sp>
        <p:nvSpPr>
          <p:cNvPr id="111" name="Text 108"/>
          <p:cNvSpPr txBox="1"/>
          <p:nvPr/>
        </p:nvSpPr>
        <p:spPr>
          <a:xfrm>
            <a:off x="621792" y="534009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京大軟骨</a:t>
            </a:r>
            <a:endParaRPr lang="en-US" sz="1050" dirty="0"/>
          </a:p>
        </p:txBody>
      </p:sp>
      <p:sp>
        <p:nvSpPr>
          <p:cNvPr id="112" name="Text 109"/>
          <p:cNvSpPr txBox="1"/>
          <p:nvPr/>
        </p:nvSpPr>
        <p:spPr>
          <a:xfrm>
            <a:off x="2633472" y="534009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膝関節軟骨損傷</a:t>
            </a:r>
            <a:endParaRPr lang="en-US" sz="1000" dirty="0"/>
          </a:p>
        </p:txBody>
      </p:sp>
      <p:sp>
        <p:nvSpPr>
          <p:cNvPr id="113" name="Text 110"/>
          <p:cNvSpPr txBox="1"/>
          <p:nvPr/>
        </p:nvSpPr>
        <p:spPr>
          <a:xfrm>
            <a:off x="4736592" y="5340096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京都大学医学部附属病院</a:t>
            </a:r>
            <a:endParaRPr lang="en-US" sz="1000" dirty="0"/>
          </a:p>
        </p:txBody>
      </p:sp>
      <p:sp>
        <p:nvSpPr>
          <p:cNvPr id="114" name="Text 111"/>
          <p:cNvSpPr txBox="1"/>
          <p:nvPr/>
        </p:nvSpPr>
        <p:spPr>
          <a:xfrm>
            <a:off x="7114032" y="53400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7927848" y="5402312"/>
            <a:ext cx="122456" cy="122456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8141744" y="5340096"/>
            <a:ext cx="34281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中止(2021年11月)</a:t>
            </a:r>
            <a:endParaRPr lang="en-US" sz="1000" dirty="0"/>
          </a:p>
        </p:txBody>
      </p:sp>
      <p:sp>
        <p:nvSpPr>
          <p:cNvPr id="117" name="Text 114"/>
          <p:cNvSpPr txBox="1"/>
          <p:nvPr/>
        </p:nvSpPr>
        <p:spPr>
          <a:xfrm>
            <a:off x="621792" y="5586984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Arktus社軟骨</a:t>
            </a:r>
            <a:endParaRPr lang="en-US" sz="1050" dirty="0"/>
          </a:p>
        </p:txBody>
      </p:sp>
      <p:sp>
        <p:nvSpPr>
          <p:cNvPr id="118" name="Text 115"/>
          <p:cNvSpPr txBox="1"/>
          <p:nvPr/>
        </p:nvSpPr>
        <p:spPr>
          <a:xfrm>
            <a:off x="2633472" y="558698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未確認</a:t>
            </a:r>
            <a:endParaRPr lang="en-US" sz="1000" dirty="0"/>
          </a:p>
        </p:txBody>
      </p:sp>
      <p:sp>
        <p:nvSpPr>
          <p:cNvPr id="119" name="Text 116"/>
          <p:cNvSpPr txBox="1"/>
          <p:nvPr/>
        </p:nvSpPr>
        <p:spPr>
          <a:xfrm>
            <a:off x="4736592" y="5586984"/>
            <a:ext cx="22677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Arktus Therapeutics</a:t>
            </a:r>
            <a:endParaRPr lang="en-US" sz="1000" dirty="0"/>
          </a:p>
        </p:txBody>
      </p:sp>
      <p:sp>
        <p:nvSpPr>
          <p:cNvPr id="120" name="Text 117"/>
          <p:cNvSpPr txBox="1"/>
          <p:nvPr/>
        </p:nvSpPr>
        <p:spPr>
          <a:xfrm>
            <a:off x="7114032" y="55869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7927848" y="5649200"/>
            <a:ext cx="122456" cy="12245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8141744" y="5586984"/>
            <a:ext cx="34281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開発段階不明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548640" y="598932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49808" y="5961888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1403604" y="598932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604772" y="5961888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完了・終了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2523744" y="598932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2724912" y="5961888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前臨床・開始前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3909060" y="598932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110228" y="596188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中止・中断・未達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5436108" y="59893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32" name="Text 129"/>
          <p:cNvSpPr txBox="1"/>
          <p:nvPr/>
        </p:nvSpPr>
        <p:spPr>
          <a:xfrm>
            <a:off x="5628132" y="596188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多能性幹細胞パイプライン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第1章39品目の内訳:iPS細胞・他家細胞が主流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64208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由来細胞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057400"/>
          <a:ext cx="324093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574749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39品目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338218" y="155448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38218" y="1664208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自家 / 他家</a:t>
            </a:r>
            <a:endParaRPr lang="en-US" sz="16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475378" y="2057400"/>
          <a:ext cx="324093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364328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39品目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8127797" y="155448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127797" y="1664208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開発地域</a:t>
            </a:r>
            <a:endParaRPr lang="en-US" sz="160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8264957" y="2057400"/>
          <a:ext cx="324093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9153906" y="3401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39品目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第1章の品目表(承認2品目・前臨床を含む39品目)をもとに本資料で集計。FT819(米国・欧州)は米国に計上。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CAR-Tは、免疫細胞に「がんを見つけるアンテナ」を付ける治療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949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アンテナが目印に結びつくと、T細胞ががん細胞を攻撃する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914400" y="2331720"/>
            <a:ext cx="1600200" cy="1600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8" name="Shape 5"/>
          <p:cNvSpPr/>
          <p:nvPr/>
        </p:nvSpPr>
        <p:spPr>
          <a:xfrm>
            <a:off x="1394460" y="2747772"/>
            <a:ext cx="672084" cy="672084"/>
          </a:xfrm>
          <a:prstGeom prst="ellipse">
            <a:avLst/>
          </a:prstGeom>
          <a:solidFill>
            <a:srgbClr val="9DBBD9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194560"/>
            <a:ext cx="1920240" cy="1828800"/>
          </a:xfrm>
          <a:prstGeom prst="irregularSeal1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8346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Shape 8"/>
          <p:cNvSpPr/>
          <p:nvPr/>
        </p:nvSpPr>
        <p:spPr>
          <a:xfrm>
            <a:off x="2450592" y="2665476"/>
            <a:ext cx="50292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Shape 9"/>
          <p:cNvSpPr/>
          <p:nvPr/>
        </p:nvSpPr>
        <p:spPr>
          <a:xfrm>
            <a:off x="2926080" y="259689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1F3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3076956"/>
            <a:ext cx="8686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300837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1F3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50592" y="3488436"/>
            <a:ext cx="50292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Shape 13"/>
          <p:cNvSpPr/>
          <p:nvPr/>
        </p:nvSpPr>
        <p:spPr>
          <a:xfrm>
            <a:off x="2926080" y="341985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1F3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2971800"/>
            <a:ext cx="274320" cy="274320"/>
          </a:xfrm>
          <a:prstGeom prst="diamond">
            <a:avLst/>
          </a:prstGeom>
          <a:solidFill>
            <a:schemeClr val="accent4"/>
          </a:solidFill>
          <a:ln w="12700">
            <a:solidFill>
              <a:srgbClr val="C2540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86200" y="2331720"/>
            <a:ext cx="237744" cy="237744"/>
          </a:xfrm>
          <a:prstGeom prst="diamond">
            <a:avLst/>
          </a:prstGeom>
          <a:solidFill>
            <a:schemeClr val="accent4"/>
          </a:solidFill>
          <a:ln w="12700">
            <a:solidFill>
              <a:srgbClr val="C2540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0" y="3657600"/>
            <a:ext cx="237744" cy="237744"/>
          </a:xfrm>
          <a:prstGeom prst="diamond">
            <a:avLst/>
          </a:prstGeom>
          <a:solidFill>
            <a:schemeClr val="accent4"/>
          </a:solidFill>
          <a:ln w="12700">
            <a:solidFill>
              <a:srgbClr val="C2540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T細胞(免疫細胞)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がん細胞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2011680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CAR(人工のアンテナ)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834640" y="2267712"/>
            <a:ext cx="0" cy="310896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14800" y="2011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目印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 flipV="1">
            <a:off x="4023360" y="2240280"/>
            <a:ext cx="137160" cy="137160"/>
          </a:xfrm>
          <a:prstGeom prst="line">
            <a:avLst/>
          </a:prstGeom>
          <a:noFill/>
          <a:ln w="12700">
            <a:solidFill>
              <a:srgbClr val="C2540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09360" y="1554480"/>
            <a:ext cx="5330952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27" name="Shape 24"/>
          <p:cNvSpPr/>
          <p:nvPr/>
        </p:nvSpPr>
        <p:spPr>
          <a:xfrm>
            <a:off x="6446520" y="167335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4652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022592" y="155448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患者の血液からT細胞を取り出す</a:t>
            </a:r>
            <a:endParaRPr lang="en-US" sz="13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1709928"/>
            <a:ext cx="347472" cy="347472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309360" y="2322576"/>
            <a:ext cx="5330952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32" name="Shape 28"/>
          <p:cNvSpPr/>
          <p:nvPr/>
        </p:nvSpPr>
        <p:spPr>
          <a:xfrm>
            <a:off x="6446520" y="24414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44652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7022592" y="2322576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アンテナ(CAR)の遺伝子をT細胞に入れる</a:t>
            </a:r>
            <a:endParaRPr lang="en-US" sz="13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2478024"/>
            <a:ext cx="347472" cy="347472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6309360" y="3090672"/>
            <a:ext cx="5330952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37" name="Shape 32"/>
          <p:cNvSpPr/>
          <p:nvPr/>
        </p:nvSpPr>
        <p:spPr>
          <a:xfrm>
            <a:off x="6446520" y="320954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446520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7022592" y="3090672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体の外でT細胞を増やす</a:t>
            </a:r>
            <a:endParaRPr lang="en-US" sz="135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3246120"/>
            <a:ext cx="347472" cy="34747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6309360" y="3858768"/>
            <a:ext cx="5330952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42" name="Shape 36"/>
          <p:cNvSpPr/>
          <p:nvPr/>
        </p:nvSpPr>
        <p:spPr>
          <a:xfrm>
            <a:off x="6446520" y="39776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44652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7022592" y="3858768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患者の体に戻すと、がん細胞を見つけて攻撃する</a:t>
            </a:r>
            <a:endParaRPr lang="en-US" sz="135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4014216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48640" y="4736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目印の種類によって、ねらうがんが決まる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548640" y="5074920"/>
            <a:ext cx="3515258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31520" y="5074920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CD19</a:t>
            </a:r>
            <a:endParaRPr lang="en-US" sz="2200" dirty="0"/>
          </a:p>
        </p:txBody>
      </p:sp>
      <p:sp>
        <p:nvSpPr>
          <p:cNvPr id="49" name="Text 42"/>
          <p:cNvSpPr txBox="1"/>
          <p:nvPr/>
        </p:nvSpPr>
        <p:spPr>
          <a:xfrm>
            <a:off x="2194560" y="5138928"/>
            <a:ext cx="1732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白血病、リンパ腫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2194560" y="5504688"/>
            <a:ext cx="1732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Kymriah、Yescartaなど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4338218" y="5074920"/>
            <a:ext cx="3515258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4521098" y="5074920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BCMA</a:t>
            </a:r>
            <a:endParaRPr lang="en-US" sz="2200" dirty="0"/>
          </a:p>
        </p:txBody>
      </p:sp>
      <p:sp>
        <p:nvSpPr>
          <p:cNvPr id="53" name="Text 46"/>
          <p:cNvSpPr txBox="1"/>
          <p:nvPr/>
        </p:nvSpPr>
        <p:spPr>
          <a:xfrm>
            <a:off x="5984138" y="5138928"/>
            <a:ext cx="1732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多発性骨髄腫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5984138" y="5504688"/>
            <a:ext cx="1732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Abecma、Carvyktiなど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8127797" y="5074920"/>
            <a:ext cx="3515258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8310677" y="5074920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CLDN18.2</a:t>
            </a:r>
            <a:endParaRPr lang="en-US" sz="1700" dirty="0"/>
          </a:p>
        </p:txBody>
      </p:sp>
      <p:sp>
        <p:nvSpPr>
          <p:cNvPr id="57" name="Text 50"/>
          <p:cNvSpPr txBox="1"/>
          <p:nvPr/>
        </p:nvSpPr>
        <p:spPr>
          <a:xfrm>
            <a:off x="9773717" y="5138928"/>
            <a:ext cx="1732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胃がん(固形がん)</a:t>
            </a:r>
            <a:endParaRPr lang="en-US" sz="1300" dirty="0"/>
          </a:p>
        </p:txBody>
      </p:sp>
      <p:sp>
        <p:nvSpPr>
          <p:cNvPr id="58" name="Text 51"/>
          <p:cNvSpPr txBox="1"/>
          <p:nvPr/>
        </p:nvSpPr>
        <p:spPr>
          <a:xfrm>
            <a:off x="9773717" y="5504688"/>
            <a:ext cx="1732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satri-cel(中国、2026年)</a:t>
            </a:r>
            <a:endParaRPr lang="en-US" sz="1100" dirty="0"/>
          </a:p>
        </p:txBody>
      </p:sp>
      <p:sp>
        <p:nvSpPr>
          <p:cNvPr id="59" name="Text 52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現在承認されているCAR-Tは、いずれも患者自身のT細胞から作る「自家」の製品。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CAR-T療法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CAR-T療法は承認47件のうち20件を占める最大領域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自家CAR-Tの流れ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61264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1060704" y="201168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189988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患者から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T細胞を採取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920240" y="2249424"/>
            <a:ext cx="457200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Shape 7"/>
          <p:cNvSpPr/>
          <p:nvPr/>
        </p:nvSpPr>
        <p:spPr>
          <a:xfrm>
            <a:off x="2542032" y="201168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2189988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12848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アンテナ(CAR)の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遺伝子を入れる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01568" y="2249424"/>
            <a:ext cx="457200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Shape 10"/>
          <p:cNvSpPr/>
          <p:nvPr/>
        </p:nvSpPr>
        <p:spPr>
          <a:xfrm>
            <a:off x="4023360" y="201168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668" y="2189988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94176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体外で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増やす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82896" y="2249424"/>
            <a:ext cx="457200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9" name="Shape 13"/>
          <p:cNvSpPr/>
          <p:nvPr/>
        </p:nvSpPr>
        <p:spPr>
          <a:xfrm>
            <a:off x="5504688" y="201168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2189988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75504" y="2834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同じ患者に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投与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40690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73152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20件</a:t>
            </a:r>
            <a:endParaRPr lang="en-US" sz="3200" dirty="0"/>
          </a:p>
        </p:txBody>
      </p:sp>
      <p:sp>
        <p:nvSpPr>
          <p:cNvPr id="24" name="Text 17"/>
          <p:cNvSpPr txBox="1"/>
          <p:nvPr/>
        </p:nvSpPr>
        <p:spPr>
          <a:xfrm>
            <a:off x="731520" y="4937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承認済み(5地域の延べ)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2651760" y="40690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283464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9製品</a:t>
            </a:r>
            <a:endParaRPr lang="en-US" sz="3200" dirty="0"/>
          </a:p>
        </p:txBody>
      </p:sp>
      <p:sp>
        <p:nvSpPr>
          <p:cNvPr id="27" name="Text 20"/>
          <p:cNvSpPr txBox="1"/>
          <p:nvPr/>
        </p:nvSpPr>
        <p:spPr>
          <a:xfrm>
            <a:off x="2834640" y="4937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承認を確認できた製品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754880" y="40690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93776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3種</a:t>
            </a:r>
            <a:endParaRPr lang="en-US" sz="3200" dirty="0"/>
          </a:p>
        </p:txBody>
      </p:sp>
      <p:sp>
        <p:nvSpPr>
          <p:cNvPr id="30" name="Text 23"/>
          <p:cNvSpPr txBox="1"/>
          <p:nvPr/>
        </p:nvSpPr>
        <p:spPr>
          <a:xfrm>
            <a:off x="4937760" y="4937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ねらう目印の種類</a:t>
            </a:r>
            <a:endParaRPr lang="en-US" sz="12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949440" y="1463040"/>
          <a:ext cx="4690872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2" name="Text 24"/>
          <p:cNvSpPr txBox="1"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承認済み(確認済み)の延べ件数。製品数は本資料で集計(奕凱達はYescartaの現地生産版として同一製品に数えた)。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CAR-T療法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CAR-T承認の歩み:2017年の米国から、中国の独自開発品へ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164996" y="2057400"/>
            <a:ext cx="9861702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6124" y="193852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2017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米国で初承認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Kymriah(8月)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Yescarta(10月)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78837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1353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2018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836217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欧州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36217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Kymriah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11550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014066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2019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8930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日本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68930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Kymriah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国内初のCAR-T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44263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246778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2021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301642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BCMA標的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301642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Abecma(米・欧)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奕凱達(中)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Breyanzi(日)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76976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79491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2022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534355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骨髄腫で拡大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4355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Carvykti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(米・欧・日)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Abecma(日)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209688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12204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2023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767068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中国・韓国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67068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FUCASO(中)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Carvykti(韓)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442401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944917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2024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999781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中国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999781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zevor-cel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675114" y="193852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177630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2025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232494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中国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232494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HICARA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独自開発のCD19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0907827" y="193852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410342" y="1554480"/>
            <a:ext cx="1232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0465206" y="2267712"/>
            <a:ext cx="11229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固形がんへ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465206" y="2542032"/>
            <a:ext cx="11229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satri-cel(中)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胃がん向け</a:t>
            </a:r>
            <a:endParaRPr lang="en-US" sz="105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548640" y="3703320"/>
          <a:ext cx="7589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39"/>
          <p:cNvSpPr/>
          <p:nvPr/>
        </p:nvSpPr>
        <p:spPr>
          <a:xfrm>
            <a:off x="8412480" y="3794760"/>
            <a:ext cx="322783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859536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同社発表による位置づけ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8595360" y="42062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HICARA:「中国初の完全自主開発CD19 CAR-T」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satri-cel:「世界初の固形腫瘍向けCAR-T製品」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CAR-T療法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CAR-T 10製品の承認状況:中国は独自開発の4製品を承認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3319272"/>
                <a:gridCol w="1024128"/>
                <a:gridCol w="1024128"/>
                <a:gridCol w="1024128"/>
                <a:gridCol w="1024128"/>
                <a:gridCol w="10241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製品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目印(標的)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主な対象疾患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米国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韓国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Kymriah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白血病、リンパ腫(血液のがん)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Yescarta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リンパ腫(血液のがん)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Breyanzi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リンパ腫、白血病(血液のがん)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Tecartus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白血病、リンパ腫(血液のがん)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5F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申請中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5F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5F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HICARA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リンパ腫(血液のがん)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Abecma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多発性骨髄腫(血液のがん)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Carvykti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多発性骨髄腫(血液のがん)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FUCASO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多発性骨髄腫(血液のがん)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zevor-cel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多発性骨髄腫(血液のがん)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satri-cel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CLDN18.2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胃がんなど(固形がん)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● 承認を確認(数字は初回承認年。数字なしは承認日が未確認) △ 承認は企業発表のみ – 本調査では確認に至らず(未承認を意味しない)。中国のYescartaは現地生産版「奕凱達」。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CAR-T療法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ねらう「目印」は、血液がんから固形がん・自己免疫疾患へ広がる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300606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43006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血液がん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77846" y="1554480"/>
            <a:ext cx="4300606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77846" y="1554480"/>
            <a:ext cx="43006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固形がん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7052" y="1554480"/>
            <a:ext cx="2036003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7052" y="1554480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自己免疫疾患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2036003" cy="342900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212848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目印(標的)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42316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CD19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907792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白血病・リンパ腫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(血液のがん)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68580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566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3950208"/>
            <a:ext cx="17616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Kymriah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Yescarta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Breyanzi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HICARA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813243" y="2103120"/>
            <a:ext cx="2036003" cy="342900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96123" y="2212848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目印(標的)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996123" y="242316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BCMA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996123" y="2907792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多発性骨髄腫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(血液のがん)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96123" y="3566160"/>
            <a:ext cx="68580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996123" y="3566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996123" y="3950208"/>
            <a:ext cx="17616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Abecma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Carvykti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FUCASO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zevor-cel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77846" y="2103120"/>
            <a:ext cx="2036003" cy="342900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260726" y="2212848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目印(標的)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260726" y="242316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CLDN18.2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260726" y="2907792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胃がんなど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260726" y="3566160"/>
            <a:ext cx="68580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260726" y="3566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260726" y="3950208"/>
            <a:ext cx="17616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satri-cel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(中国、2026年6月)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42449" y="2103120"/>
            <a:ext cx="2036003" cy="342900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25329" y="2212848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目印(標的)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525329" y="242316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GPC3・HER2・GM2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525329" y="2907792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肝細胞癌、肉腫、中皮腫など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525329" y="3566160"/>
            <a:ext cx="6858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25329" y="3566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治験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525329" y="3950208"/>
            <a:ext cx="17616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CAR(hYP7)-T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CBG166、C-CAR031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BP2301-01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GM2標的CAR-T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9607052" y="2103120"/>
            <a:ext cx="2036003" cy="342900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789932" y="2212848"/>
            <a:ext cx="1670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目印(標的)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789932" y="242316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CD19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9789932" y="2907792"/>
            <a:ext cx="16702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全身性エリテマトーデス(SLE)、多発性硬化症など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9789932" y="3566160"/>
            <a:ext cx="6858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789932" y="3566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治験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789932" y="3950208"/>
            <a:ext cx="17616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CABA-201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KYV-101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zorpo-cel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FT819、CNTY-101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548640" y="5669280"/>
            <a:ext cx="11094415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新しい目印:GPRC5DをねらうMCARH109は、多発性骨髄腫の第I相試験で17例中12例(71%)に効果。いずれの国でも未承認。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固形がん・自己免疫疾患のCAR-Tは、大半が第I相段階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63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953512" y="1463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標的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913632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65392" y="14630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463040"/>
            <a:ext cx="893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71043" y="1463040"/>
            <a:ext cx="893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964046" y="1463040"/>
            <a:ext cx="893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857049" y="1463040"/>
            <a:ext cx="893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750052" y="1463040"/>
            <a:ext cx="893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83664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157984"/>
            <a:ext cx="11094415" cy="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15798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70662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325526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078224"/>
            <a:ext cx="11094415" cy="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07822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62686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517550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572414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Shape 21"/>
          <p:cNvSpPr/>
          <p:nvPr/>
        </p:nvSpPr>
        <p:spPr>
          <a:xfrm>
            <a:off x="8071043" y="1883664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8964046" y="1883664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9857049" y="1883664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0750052" y="1883664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21792" y="1883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固形がん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21792" y="215798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satri-cel(CT041)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953512" y="215798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CLDN18.2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3913632" y="215798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進行胃・胃食道接合部腺癌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565392" y="215798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223760" y="2210105"/>
            <a:ext cx="4373575" cy="170078"/>
          </a:xfrm>
          <a:prstGeom prst="roundRect">
            <a:avLst>
              <a:gd name="adj" fmla="val 21505"/>
            </a:avLst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315200" y="2210105"/>
            <a:ext cx="4236415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承認(2026年6月)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21792" y="24323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CAR(hYP7)-T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953512" y="243230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GPC3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3913632" y="243230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進行肝細胞癌など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565392" y="243230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223760" y="248442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991478" y="243230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第I相・募集中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21792" y="27066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CBG166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2953512" y="270662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GPC3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3913632" y="27066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肝細胞癌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565392" y="270662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223760" y="275874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991478" y="270662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第I相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21792" y="2980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C-CAR031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2953512" y="298094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GPC3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3913632" y="29809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肝細胞癌、肺扁平上皮癌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565392" y="298094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223760" y="303306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991478" y="298094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第I/II相・第I相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21792" y="32552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GM2標的CAR-T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2953512" y="32552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GM2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3913632" y="325526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中皮腫、小細胞肺癌、膵がんなど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6565392" y="32552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7223760" y="330738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991478" y="325526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第I相(医師主導治験)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621792" y="352958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BP2301-01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2953512" y="352958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HER2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3913632" y="352958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骨肉腫、軟部肉腫、婦人科がん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6565392" y="352958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7223760" y="358170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8991478" y="352958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第I相(医師主導治験)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621792" y="38039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自己免疫疾患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621792" y="40782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KYV-101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2953512" y="407822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3913632" y="40782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多発性硬化症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565392" y="407822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7223760" y="4130345"/>
            <a:ext cx="2587569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9884481" y="4078224"/>
            <a:ext cx="17402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第2相・実施中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621792" y="43525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KYV-101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2953512" y="435254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3913632" y="43525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ループス腎炎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6565392" y="435254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米国・欧州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7242048" y="4421673"/>
            <a:ext cx="136063" cy="136063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7469551" y="4352544"/>
            <a:ext cx="410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中止(2026年8月)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621792" y="462686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CABA-201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2953512" y="46268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3913632" y="462686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SLE、筋炎、全身性強皮症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6565392" y="46268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82" name="Shape 79"/>
          <p:cNvSpPr/>
          <p:nvPr/>
        </p:nvSpPr>
        <p:spPr>
          <a:xfrm>
            <a:off x="7223760" y="467898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8991478" y="462686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第1/2相・募集中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21792" y="490118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zorpocabtagene autoleucel</a:t>
            </a:r>
            <a:endParaRPr lang="en-US" sz="1100" dirty="0"/>
          </a:p>
        </p:txBody>
      </p:sp>
      <p:sp>
        <p:nvSpPr>
          <p:cNvPr id="85" name="Text 82"/>
          <p:cNvSpPr txBox="1"/>
          <p:nvPr/>
        </p:nvSpPr>
        <p:spPr>
          <a:xfrm>
            <a:off x="2953512" y="490118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3913632" y="490118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SLE、強皮症、筋炎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6565392" y="490118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欧州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7223760" y="495330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8991478" y="490118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第1/2相・募集中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621792" y="517550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YTB323</a:t>
            </a:r>
            <a:endParaRPr lang="en-US" sz="1100" dirty="0"/>
          </a:p>
        </p:txBody>
      </p:sp>
      <p:sp>
        <p:nvSpPr>
          <p:cNvPr id="91" name="Text 88"/>
          <p:cNvSpPr txBox="1"/>
          <p:nvPr/>
        </p:nvSpPr>
        <p:spPr>
          <a:xfrm>
            <a:off x="2953512" y="517550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92" name="Text 89"/>
          <p:cNvSpPr txBox="1"/>
          <p:nvPr/>
        </p:nvSpPr>
        <p:spPr>
          <a:xfrm>
            <a:off x="3913632" y="517550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全身型重症筋無力症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6565392" y="517550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94" name="Shape 91"/>
          <p:cNvSpPr/>
          <p:nvPr/>
        </p:nvSpPr>
        <p:spPr>
          <a:xfrm>
            <a:off x="7223760" y="5227625"/>
            <a:ext cx="1694566" cy="170078"/>
          </a:xfrm>
          <a:prstGeom prst="roundRect">
            <a:avLst>
              <a:gd name="adj" fmla="val 21505"/>
            </a:avLst>
          </a:prstGeom>
          <a:solidFill>
            <a:schemeClr val="accent5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991478" y="5175504"/>
            <a:ext cx="26332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第I/II相・募集中断</a:t>
            </a:r>
            <a:endParaRPr lang="en-US" sz="1050" dirty="0"/>
          </a:p>
        </p:txBody>
      </p:sp>
      <p:sp>
        <p:nvSpPr>
          <p:cNvPr id="96" name="Text 93"/>
          <p:cNvSpPr txBox="1"/>
          <p:nvPr/>
        </p:nvSpPr>
        <p:spPr>
          <a:xfrm>
            <a:off x="621792" y="544982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浙江大学 CD19 CAR-T</a:t>
            </a:r>
            <a:endParaRPr lang="en-US" sz="1100" dirty="0"/>
          </a:p>
        </p:txBody>
      </p:sp>
      <p:sp>
        <p:nvSpPr>
          <p:cNvPr id="97" name="Text 94"/>
          <p:cNvSpPr txBox="1"/>
          <p:nvPr/>
        </p:nvSpPr>
        <p:spPr>
          <a:xfrm>
            <a:off x="2953512" y="544982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98" name="Text 95"/>
          <p:cNvSpPr txBox="1"/>
          <p:nvPr/>
        </p:nvSpPr>
        <p:spPr>
          <a:xfrm>
            <a:off x="3913632" y="54498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小児難治性ループス腎炎</a:t>
            </a:r>
            <a:endParaRPr lang="en-US" sz="1050" dirty="0"/>
          </a:p>
        </p:txBody>
      </p:sp>
      <p:sp>
        <p:nvSpPr>
          <p:cNvPr id="99" name="Text 96"/>
          <p:cNvSpPr txBox="1"/>
          <p:nvPr/>
        </p:nvSpPr>
        <p:spPr>
          <a:xfrm>
            <a:off x="6565392" y="544982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中国</a:t>
            </a:r>
            <a:endParaRPr lang="en-US" sz="1050" dirty="0"/>
          </a:p>
        </p:txBody>
      </p:sp>
      <p:sp>
        <p:nvSpPr>
          <p:cNvPr id="100" name="Shape 97"/>
          <p:cNvSpPr/>
          <p:nvPr/>
        </p:nvSpPr>
        <p:spPr>
          <a:xfrm>
            <a:off x="7242048" y="5518953"/>
            <a:ext cx="136063" cy="136063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7469551" y="5449824"/>
            <a:ext cx="410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相記載なし</a:t>
            </a:r>
            <a:endParaRPr lang="en-US" sz="1050" dirty="0"/>
          </a:p>
        </p:txBody>
      </p:sp>
      <p:sp>
        <p:nvSpPr>
          <p:cNvPr id="102" name="Text 99"/>
          <p:cNvSpPr txBox="1"/>
          <p:nvPr/>
        </p:nvSpPr>
        <p:spPr>
          <a:xfrm>
            <a:off x="621792" y="57241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ソウル聖母病院の投与例</a:t>
            </a:r>
            <a:endParaRPr lang="en-US" sz="1100" dirty="0"/>
          </a:p>
        </p:txBody>
      </p:sp>
      <p:sp>
        <p:nvSpPr>
          <p:cNvPr id="103" name="Text 100"/>
          <p:cNvSpPr txBox="1"/>
          <p:nvPr/>
        </p:nvSpPr>
        <p:spPr>
          <a:xfrm>
            <a:off x="2953512" y="572414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104" name="Text 101"/>
          <p:cNvSpPr txBox="1"/>
          <p:nvPr/>
        </p:nvSpPr>
        <p:spPr>
          <a:xfrm>
            <a:off x="3913632" y="57241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難治性ループス腎炎</a:t>
            </a:r>
            <a:endParaRPr lang="en-US" sz="1050" dirty="0"/>
          </a:p>
        </p:txBody>
      </p:sp>
      <p:sp>
        <p:nvSpPr>
          <p:cNvPr id="105" name="Text 102"/>
          <p:cNvSpPr txBox="1"/>
          <p:nvPr/>
        </p:nvSpPr>
        <p:spPr>
          <a:xfrm>
            <a:off x="6565392" y="572414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韓国</a:t>
            </a:r>
            <a:endParaRPr lang="en-US" sz="1050" dirty="0"/>
          </a:p>
        </p:txBody>
      </p:sp>
      <p:sp>
        <p:nvSpPr>
          <p:cNvPr id="106" name="Shape 103"/>
          <p:cNvSpPr/>
          <p:nvPr/>
        </p:nvSpPr>
        <p:spPr>
          <a:xfrm>
            <a:off x="7242048" y="5793273"/>
            <a:ext cx="136063" cy="136063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7469551" y="5724144"/>
            <a:ext cx="410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投与1例(2025年3月)</a:t>
            </a:r>
            <a:endParaRPr lang="en-US" sz="1050" dirty="0"/>
          </a:p>
        </p:txBody>
      </p:sp>
      <p:sp>
        <p:nvSpPr>
          <p:cNvPr id="108" name="Shape 105"/>
          <p:cNvSpPr/>
          <p:nvPr/>
        </p:nvSpPr>
        <p:spPr>
          <a:xfrm>
            <a:off x="548640" y="615391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749808" y="6126480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1271016" y="615391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1472184" y="6126480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2125980" y="615391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2327148" y="612648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中止・中断・未達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3653028" y="6153912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3845052" y="6126480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CAR-Tパイプライン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他家CAR-T・CAR-NK:血液がんで中止が続き、自己免疫へ転換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63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679192" y="14630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標的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456432" y="1463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71032" y="14630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1463040"/>
            <a:ext cx="9752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41859" y="1463040"/>
            <a:ext cx="9752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717158" y="1463040"/>
            <a:ext cx="9752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92457" y="1463040"/>
            <a:ext cx="9752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667756" y="1463040"/>
            <a:ext cx="9752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83664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157984"/>
            <a:ext cx="11094415" cy="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15798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70662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325526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078224"/>
            <a:ext cx="11094415" cy="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07822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62686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5175504"/>
            <a:ext cx="11094415" cy="274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7741859" y="1883664"/>
            <a:ext cx="0" cy="356616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8717158" y="1883664"/>
            <a:ext cx="0" cy="356616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9692457" y="1883664"/>
            <a:ext cx="0" cy="356616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667756" y="1883664"/>
            <a:ext cx="0" cy="356616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21792" y="188366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iPS細胞由来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21792" y="215798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FT819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679192" y="21579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3456432" y="21579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自己免疫疾患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971032" y="215798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米国・欧州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812280" y="2210105"/>
            <a:ext cx="1859158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744590" y="2157984"/>
            <a:ext cx="2880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第I相・募集中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21792" y="243230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CNTY-101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679192" y="243230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3456432" y="243230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B細胞リンパ腫 → 自己免疫疾患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971032" y="243230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812280" y="2484425"/>
            <a:ext cx="1859158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744590" y="2432304"/>
            <a:ext cx="2880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リンパ腫は中止、自己免疫は継続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21792" y="270662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FT522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79192" y="270662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3456432" y="270662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B細胞リンパ腫 → 自己免疫疾患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971032" y="270662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812280" y="2758745"/>
            <a:ext cx="1859158" cy="170078"/>
          </a:xfrm>
          <a:prstGeom prst="roundRect">
            <a:avLst>
              <a:gd name="adj" fmla="val 21505"/>
            </a:avLst>
          </a:prstGeom>
          <a:solidFill>
            <a:schemeClr val="accent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8744590" y="2706624"/>
            <a:ext cx="2880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リンパ腫は完了、自己免疫は開発中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621792" y="298094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iCAR-ILC-N101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2679192" y="29809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GPC3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456432" y="29809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卵巣明細胞癌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5971032" y="298094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812280" y="3033065"/>
            <a:ext cx="1859158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44590" y="2980944"/>
            <a:ext cx="2880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第I相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621792" y="325526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シノビ社T細胞療法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2679192" y="32552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未確認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3456432" y="325526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肝がん、大腸がん肝転移、肺がん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5971032" y="325526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812280" y="3307385"/>
            <a:ext cx="883859" cy="170078"/>
          </a:xfrm>
          <a:prstGeom prst="roundRect">
            <a:avLst>
              <a:gd name="adj" fmla="val 21505"/>
            </a:avLst>
          </a:prstGeom>
          <a:solidFill>
            <a:schemeClr val="accent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7769291" y="3255264"/>
            <a:ext cx="3855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治験開始前(2026年度予定)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621792" y="352958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シノビ社NK細胞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2679192" y="35295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—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3456432" y="35295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自己免疫疾患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5971032" y="352958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6812280" y="3581705"/>
            <a:ext cx="883859" cy="170078"/>
          </a:xfrm>
          <a:prstGeom prst="roundRect">
            <a:avLst>
              <a:gd name="adj" fmla="val 21505"/>
            </a:avLst>
          </a:prstGeom>
          <a:solidFill>
            <a:schemeClr val="accent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7769291" y="3529584"/>
            <a:ext cx="3855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治験開始前(2026年度予定)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21792" y="38039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健常人ドナーT細胞由来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621792" y="407822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ALLO-501A(cema-cel)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2679192" y="407822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3456432" y="407822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大細胞型B細胞リンパ腫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5971032" y="407822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6812280" y="4130345"/>
            <a:ext cx="2834457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719889" y="4078224"/>
            <a:ext cx="1904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第2相・募集中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621792" y="435254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azer-cel(PBCAR0191)</a:t>
            </a:r>
            <a:endParaRPr lang="en-US" sz="1100" dirty="0"/>
          </a:p>
        </p:txBody>
      </p:sp>
      <p:sp>
        <p:nvSpPr>
          <p:cNvPr id="72" name="Text 69"/>
          <p:cNvSpPr txBox="1"/>
          <p:nvPr/>
        </p:nvSpPr>
        <p:spPr>
          <a:xfrm>
            <a:off x="2679192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3456432" y="43525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B細胞悪性腫瘍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5971032" y="435254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6812280" y="4404665"/>
            <a:ext cx="1859158" cy="170078"/>
          </a:xfrm>
          <a:prstGeom prst="roundRect">
            <a:avLst>
              <a:gd name="adj" fmla="val 21505"/>
            </a:avLst>
          </a:prstGeom>
          <a:solidFill>
            <a:schemeClr val="tx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8744590" y="4352544"/>
            <a:ext cx="2880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第1/1b相・募集中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621792" y="462686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ALLO-715</a:t>
            </a:r>
            <a:endParaRPr lang="en-US" sz="1100" dirty="0"/>
          </a:p>
        </p:txBody>
      </p:sp>
      <p:sp>
        <p:nvSpPr>
          <p:cNvPr id="78" name="Text 75"/>
          <p:cNvSpPr txBox="1"/>
          <p:nvPr/>
        </p:nvSpPr>
        <p:spPr>
          <a:xfrm>
            <a:off x="2679192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BCMA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3456432" y="462686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多発性骨髄腫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5971032" y="462686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81" name="Shape 78"/>
          <p:cNvSpPr/>
          <p:nvPr/>
        </p:nvSpPr>
        <p:spPr>
          <a:xfrm>
            <a:off x="6830568" y="4695993"/>
            <a:ext cx="136063" cy="136063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7058071" y="4626864"/>
            <a:ext cx="45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完了(2025年1月)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621792" y="490118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CTX110</a:t>
            </a:r>
            <a:endParaRPr lang="en-US" sz="1100" dirty="0"/>
          </a:p>
        </p:txBody>
      </p:sp>
      <p:sp>
        <p:nvSpPr>
          <p:cNvPr id="84" name="Text 81"/>
          <p:cNvSpPr txBox="1"/>
          <p:nvPr/>
        </p:nvSpPr>
        <p:spPr>
          <a:xfrm>
            <a:off x="2679192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CD19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3456432" y="49011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B細胞悪性腫瘍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5971032" y="490118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87" name="Shape 84"/>
          <p:cNvSpPr/>
          <p:nvPr/>
        </p:nvSpPr>
        <p:spPr>
          <a:xfrm>
            <a:off x="6830568" y="4970313"/>
            <a:ext cx="136063" cy="136063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7058071" y="4901184"/>
            <a:ext cx="45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中止(2024年10月)。CRISPR/Cas9で編集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21792" y="5175504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CTX130</a:t>
            </a:r>
            <a:endParaRPr lang="en-US" sz="1100" dirty="0"/>
          </a:p>
        </p:txBody>
      </p:sp>
      <p:sp>
        <p:nvSpPr>
          <p:cNvPr id="90" name="Text 87"/>
          <p:cNvSpPr txBox="1"/>
          <p:nvPr/>
        </p:nvSpPr>
        <p:spPr>
          <a:xfrm>
            <a:off x="2679192" y="517550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CD70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3456432" y="517550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T細胞・B細胞悪性腫瘍</a:t>
            </a:r>
            <a:endParaRPr lang="en-US" sz="1050" dirty="0"/>
          </a:p>
        </p:txBody>
      </p:sp>
      <p:sp>
        <p:nvSpPr>
          <p:cNvPr id="92" name="Text 89"/>
          <p:cNvSpPr txBox="1"/>
          <p:nvPr/>
        </p:nvSpPr>
        <p:spPr>
          <a:xfrm>
            <a:off x="5971032" y="5175504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米国</a:t>
            </a:r>
            <a:endParaRPr lang="en-US" sz="1050" dirty="0"/>
          </a:p>
        </p:txBody>
      </p:sp>
      <p:sp>
        <p:nvSpPr>
          <p:cNvPr id="93" name="Shape 90"/>
          <p:cNvSpPr/>
          <p:nvPr/>
        </p:nvSpPr>
        <p:spPr>
          <a:xfrm>
            <a:off x="6830568" y="5244633"/>
            <a:ext cx="136063" cy="136063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7058071" y="5175504"/>
            <a:ext cx="45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中止(2024年8月)。CRISPR/Cas9で編集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548640" y="560527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749808" y="5577840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1403604" y="560527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1604772" y="5577840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完了・終了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2523744" y="560527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2724912" y="5577840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前臨床・開始前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3909060" y="560527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110228" y="55778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中止・中断・未達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6583680" y="5577840"/>
            <a:ext cx="2011680" cy="566928"/>
          </a:xfrm>
          <a:prstGeom prst="roundRect">
            <a:avLst>
              <a:gd name="adj" fmla="val 9677"/>
            </a:avLst>
          </a:prstGeom>
          <a:solidFill>
            <a:schemeClr val="accent5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83680" y="5577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血液がん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中止が相次ぐ</a:t>
            </a:r>
            <a:endParaRPr lang="en-US" sz="1150" dirty="0"/>
          </a:p>
        </p:txBody>
      </p:sp>
      <p:sp>
        <p:nvSpPr>
          <p:cNvPr id="105" name="Shape 102"/>
          <p:cNvSpPr/>
          <p:nvPr/>
        </p:nvSpPr>
        <p:spPr>
          <a:xfrm>
            <a:off x="8732520" y="5733288"/>
            <a:ext cx="548640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6" name="Shape 103"/>
          <p:cNvSpPr/>
          <p:nvPr/>
        </p:nvSpPr>
        <p:spPr>
          <a:xfrm>
            <a:off x="9418320" y="5577840"/>
            <a:ext cx="2221992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9418320" y="557784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自己免疫疾患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同じ技術基盤で継続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ゲノム編集は、DNAという設計図を、ねらった場所で書き換える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DNA(体の設計図)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1248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Shape 5"/>
          <p:cNvSpPr/>
          <p:nvPr/>
        </p:nvSpPr>
        <p:spPr>
          <a:xfrm>
            <a:off x="1320601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1799955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2279308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1" name="Shape 8"/>
          <p:cNvSpPr/>
          <p:nvPr/>
        </p:nvSpPr>
        <p:spPr>
          <a:xfrm>
            <a:off x="2758662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Shape 9"/>
          <p:cNvSpPr/>
          <p:nvPr/>
        </p:nvSpPr>
        <p:spPr>
          <a:xfrm>
            <a:off x="3238015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3" name="Shape 10"/>
          <p:cNvSpPr/>
          <p:nvPr/>
        </p:nvSpPr>
        <p:spPr>
          <a:xfrm>
            <a:off x="3717369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Shape 11"/>
          <p:cNvSpPr/>
          <p:nvPr/>
        </p:nvSpPr>
        <p:spPr>
          <a:xfrm>
            <a:off x="4196722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5" name="Shape 12"/>
          <p:cNvSpPr/>
          <p:nvPr/>
        </p:nvSpPr>
        <p:spPr>
          <a:xfrm>
            <a:off x="4676075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5155429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7" name="Shape 14"/>
          <p:cNvSpPr/>
          <p:nvPr/>
        </p:nvSpPr>
        <p:spPr>
          <a:xfrm>
            <a:off x="5634782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8" name="Shape 15"/>
          <p:cNvSpPr/>
          <p:nvPr/>
        </p:nvSpPr>
        <p:spPr>
          <a:xfrm>
            <a:off x="6114136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9" name="Shape 16"/>
          <p:cNvSpPr/>
          <p:nvPr/>
        </p:nvSpPr>
        <p:spPr>
          <a:xfrm>
            <a:off x="6593489" y="2487168"/>
            <a:ext cx="442777" cy="420624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7072842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1" name="Shape 18"/>
          <p:cNvSpPr/>
          <p:nvPr/>
        </p:nvSpPr>
        <p:spPr>
          <a:xfrm>
            <a:off x="7552196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2" name="Shape 19"/>
          <p:cNvSpPr/>
          <p:nvPr/>
        </p:nvSpPr>
        <p:spPr>
          <a:xfrm>
            <a:off x="8031549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3" name="Shape 20"/>
          <p:cNvSpPr/>
          <p:nvPr/>
        </p:nvSpPr>
        <p:spPr>
          <a:xfrm>
            <a:off x="8510903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4" name="Shape 21"/>
          <p:cNvSpPr/>
          <p:nvPr/>
        </p:nvSpPr>
        <p:spPr>
          <a:xfrm>
            <a:off x="8990256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5" name="Shape 22"/>
          <p:cNvSpPr/>
          <p:nvPr/>
        </p:nvSpPr>
        <p:spPr>
          <a:xfrm>
            <a:off x="9469610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6" name="Shape 23"/>
          <p:cNvSpPr/>
          <p:nvPr/>
        </p:nvSpPr>
        <p:spPr>
          <a:xfrm>
            <a:off x="9948963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7" name="Shape 24"/>
          <p:cNvSpPr/>
          <p:nvPr/>
        </p:nvSpPr>
        <p:spPr>
          <a:xfrm>
            <a:off x="10428316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8" name="Shape 25"/>
          <p:cNvSpPr/>
          <p:nvPr/>
        </p:nvSpPr>
        <p:spPr>
          <a:xfrm>
            <a:off x="10907670" y="2560320"/>
            <a:ext cx="44277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9" name="Shape 26"/>
          <p:cNvSpPr/>
          <p:nvPr/>
        </p:nvSpPr>
        <p:spPr>
          <a:xfrm>
            <a:off x="6485694" y="167335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0286" y="1837944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226358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はさみ(Cas9)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226358" y="1984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DNAを切る酵素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117398" y="1810512"/>
            <a:ext cx="219456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4117398" y="1810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案内役(ガイドRNA)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900478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ねらった場所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48640" y="3566160"/>
            <a:ext cx="3454298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85800" y="3566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38" name="Text 34"/>
          <p:cNvSpPr txBox="1"/>
          <p:nvPr/>
        </p:nvSpPr>
        <p:spPr>
          <a:xfrm>
            <a:off x="1188720" y="3566160"/>
            <a:ext cx="2677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案内役が、DNAの中からねらった場所を探す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4048658" y="3803904"/>
            <a:ext cx="274320" cy="256032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40" name="Shape 36"/>
          <p:cNvSpPr/>
          <p:nvPr/>
        </p:nvSpPr>
        <p:spPr>
          <a:xfrm>
            <a:off x="4368698" y="3566160"/>
            <a:ext cx="3454298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505858" y="3566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42" name="Text 38"/>
          <p:cNvSpPr txBox="1"/>
          <p:nvPr/>
        </p:nvSpPr>
        <p:spPr>
          <a:xfrm>
            <a:off x="5008778" y="3566160"/>
            <a:ext cx="2677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はさみが、その場所でDNAを切る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7868717" y="3803904"/>
            <a:ext cx="274320" cy="256032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44" name="Shape 40"/>
          <p:cNvSpPr/>
          <p:nvPr/>
        </p:nvSpPr>
        <p:spPr>
          <a:xfrm>
            <a:off x="8188757" y="3566160"/>
            <a:ext cx="3454298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8325917" y="3566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46" name="Text 42"/>
          <p:cNvSpPr txBox="1"/>
          <p:nvPr/>
        </p:nvSpPr>
        <p:spPr>
          <a:xfrm>
            <a:off x="8828837" y="3566160"/>
            <a:ext cx="2677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細胞が切れ目を修復する過程で、遺伝子の働きが変わる</a:t>
            </a:r>
            <a:endParaRPr lang="en-US" sz="1250" dirty="0"/>
          </a:p>
        </p:txBody>
      </p:sp>
      <p:sp>
        <p:nvSpPr>
          <p:cNvPr id="47" name="Text 43"/>
          <p:cNvSpPr txBox="1"/>
          <p:nvPr/>
        </p:nvSpPr>
        <p:spPr>
          <a:xfrm>
            <a:off x="548640" y="44622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遺伝子を直す3つの方法</a:t>
            </a:r>
            <a:endParaRPr lang="en-US" sz="1300" dirty="0"/>
          </a:p>
        </p:txBody>
      </p:sp>
      <p:sp>
        <p:nvSpPr>
          <p:cNvPr id="48" name="Shape 44"/>
          <p:cNvSpPr/>
          <p:nvPr/>
        </p:nvSpPr>
        <p:spPr>
          <a:xfrm>
            <a:off x="548640" y="4800600"/>
            <a:ext cx="3454298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9" name="Shape 45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5038344"/>
            <a:ext cx="301752" cy="301752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1298448" y="4846320"/>
            <a:ext cx="2585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遺伝子治療(ウイルスベクター)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1298448" y="5157216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ウイルスを運び屋にして、正常な遺伝子を細胞に届ける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1298448" y="5623560"/>
            <a:ext cx="258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Zynteglo、Lyfgeniaなど(承認)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4368698" y="4800600"/>
            <a:ext cx="3454298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55" name="Shape 50"/>
          <p:cNvSpPr/>
          <p:nvPr/>
        </p:nvSpPr>
        <p:spPr>
          <a:xfrm>
            <a:off x="4505858" y="4937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442" y="5038344"/>
            <a:ext cx="301752" cy="301752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5118506" y="4846320"/>
            <a:ext cx="2585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ゲノム編集(CRISPR/Cas9)</a:t>
            </a:r>
            <a:endParaRPr lang="en-US" sz="1300" dirty="0"/>
          </a:p>
        </p:txBody>
      </p:sp>
      <p:sp>
        <p:nvSpPr>
          <p:cNvPr id="58" name="Text 52"/>
          <p:cNvSpPr txBox="1"/>
          <p:nvPr/>
        </p:nvSpPr>
        <p:spPr>
          <a:xfrm>
            <a:off x="5118506" y="5157216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DNAを、ねらった場所で切って書き換える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5118506" y="5623560"/>
            <a:ext cx="258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Casgevy(承認)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8188757" y="4800600"/>
            <a:ext cx="3454298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61" name="Shape 55"/>
          <p:cNvSpPr/>
          <p:nvPr/>
        </p:nvSpPr>
        <p:spPr>
          <a:xfrm>
            <a:off x="8325917" y="4937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501" y="5038344"/>
            <a:ext cx="301752" cy="301752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8938565" y="4846320"/>
            <a:ext cx="25856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塩基編集</a:t>
            </a:r>
            <a:endParaRPr lang="en-US" sz="1300" dirty="0"/>
          </a:p>
        </p:txBody>
      </p:sp>
      <p:sp>
        <p:nvSpPr>
          <p:cNvPr id="64" name="Text 57"/>
          <p:cNvSpPr txBox="1"/>
          <p:nvPr/>
        </p:nvSpPr>
        <p:spPr>
          <a:xfrm>
            <a:off x="8938565" y="5157216"/>
            <a:ext cx="258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DNAを切らずに、1文字だけ書き換える</a:t>
            </a:r>
            <a:endParaRPr lang="en-US" sz="1100" dirty="0"/>
          </a:p>
        </p:txBody>
      </p:sp>
      <p:sp>
        <p:nvSpPr>
          <p:cNvPr id="65" name="Text 58"/>
          <p:cNvSpPr txBox="1"/>
          <p:nvPr/>
        </p:nvSpPr>
        <p:spPr>
          <a:xfrm>
            <a:off x="8938565" y="5623560"/>
            <a:ext cx="258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BEAM-101(治験中)</a:t>
            </a:r>
            <a:endParaRPr lang="en-US" sz="1100" dirty="0"/>
          </a:p>
        </p:txBody>
      </p:sp>
      <p:sp>
        <p:nvSpPr>
          <p:cNvPr id="66" name="Text 59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承認済みのCasgevyは、患者の血液のもとになる細胞を体の外でゲノム編集し、胎児型のヘモグロビンが作られるようにして体に戻す。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遺伝子治療・ゲノム編集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血液のもとになる細胞の遺伝子を、体の外で直して戻す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4008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1097280" y="173736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1915668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5603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患者から血液のもと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(造血幹細胞)を採取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993392" y="1975104"/>
            <a:ext cx="457200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hape 6"/>
          <p:cNvSpPr/>
          <p:nvPr/>
        </p:nvSpPr>
        <p:spPr>
          <a:xfrm>
            <a:off x="2651760" y="1737360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068" y="1915668"/>
            <a:ext cx="356616" cy="3566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86000" y="25603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体外で遺伝子を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導入・編集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547872" y="1975104"/>
            <a:ext cx="457200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Shape 9"/>
          <p:cNvSpPr/>
          <p:nvPr/>
        </p:nvSpPr>
        <p:spPr>
          <a:xfrm>
            <a:off x="4206240" y="173736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1915668"/>
            <a:ext cx="356616" cy="3566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40480" y="25603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移植の前処置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102352" y="1975104"/>
            <a:ext cx="457200" cy="237744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Shape 12"/>
          <p:cNvSpPr/>
          <p:nvPr/>
        </p:nvSpPr>
        <p:spPr>
          <a:xfrm>
            <a:off x="5760720" y="173736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1915668"/>
            <a:ext cx="356616" cy="35661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94960" y="25603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患者に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戻す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対象となる疾患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41148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8580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ヘモグロビン異常症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85800" y="4553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赤血球の遺伝性の病気(鎌状赤血球症など)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685800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Zynteglo, Lyfgenia, Casgevy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715768" y="41148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2852928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原発性免疫不全症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2852928" y="4553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生まれつき免疫が働きにくい病気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2852928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Strimvelis, Waskyra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882896" y="4114800"/>
            <a:ext cx="205740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020056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神経代謝疾患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5020056" y="4553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脳や神経が侵される遺伝性の病気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020056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Skysona, Libmeldy / Lenmeldy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731520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遺伝子の直し方(主な9品目)</a:t>
            </a:r>
            <a:endParaRPr lang="en-US" sz="13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7315200" y="1783080"/>
          <a:ext cx="432511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Text 28"/>
          <p:cNvSpPr txBox="1"/>
          <p:nvPr/>
        </p:nvSpPr>
        <p:spPr>
          <a:xfrm>
            <a:off x="8750808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9品目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すべて自家の造血幹細胞を使用。改変方式は第4章の品目表9品目(承認品と治験品)を本資料で集計。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遺伝子治療・ゲノム編集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造血幹細胞遺伝子治療の承認は米国と欧州に集中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0280"/>
                <a:gridCol w="1325880"/>
                <a:gridCol w="1600200"/>
                <a:gridCol w="1993392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対象疾患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改変方式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米国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Zynteglo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β-サラセミア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2022年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7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2019年承認 → 2022年取消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Lyfgenia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鎌状赤血球症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2023年 ※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Casgevy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鎌状赤血球症、β-サラセミア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CRISPR/Cas9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2023年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条件付承認 2024年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Strimvelis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ADA-SCID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レトロウイルス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未承認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2016年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Waskyra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ウィスコット・アルドリッチ症候群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2025年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CHMP肯定的意見 2025年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Skysona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副腎白質ジストロフィー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2022年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7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2021年承認 → 同年取消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Libmeldy / Lenmeldy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異染性白質ジストロフィー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2024年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54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 2020年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希少疾病用指定 2025年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RP-L102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ファンコニ貧血A型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第II相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G1XCGD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慢性肉芽腫症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レンチウイルス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第I/II相・完了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SCID-X1遺伝子治療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X連鎖重症複合免疫不全症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B67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中断(St. Jude)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状態不明(英国)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国立成育医療研究センター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慢性肉芽腫症、WAS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793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1例実施 / 治験は中断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5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06440"/>
            <a:ext cx="274320" cy="182880"/>
          </a:xfrm>
          <a:prstGeom prst="roundRect">
            <a:avLst>
              <a:gd name="adj" fmla="val 10000"/>
            </a:avLst>
          </a:prstGeom>
          <a:solidFill>
            <a:srgbClr val="FBEEE4"/>
          </a:solidFill>
          <a:ln w="9525">
            <a:solidFill>
              <a:srgbClr val="C2540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96112" y="5760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承認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103120" y="5806440"/>
            <a:ext cx="274320" cy="182880"/>
          </a:xfrm>
          <a:prstGeom prst="roundRect">
            <a:avLst>
              <a:gd name="adj" fmla="val 10000"/>
            </a:avLst>
          </a:prstGeom>
          <a:solidFill>
            <a:srgbClr val="E6EDF5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450592" y="5760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治験・手続中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0" y="5806440"/>
            <a:ext cx="274320" cy="182880"/>
          </a:xfrm>
          <a:prstGeom prst="roundRect">
            <a:avLst>
              <a:gd name="adj" fmla="val 10000"/>
            </a:avLst>
          </a:prstGeom>
          <a:solidFill>
            <a:srgbClr val="E9ECF0"/>
          </a:solidFill>
          <a:ln w="9525">
            <a:solidFill>
              <a:srgbClr val="5B677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005072" y="5760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取消・中断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5760720"/>
            <a:ext cx="6248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「–」は本調査で確認に至らず。中国・韓国は承認・治験とも確認できず。※ 血液悪性腫瘍リスクの黒枠警告あり。国立成育医療研究センターの症例は治療後にMDSを発症。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遺伝子治療・ゲノム編集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Casgevy:CRISPR/Cas9製品が承認され、対象年齢も拡大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935442" y="2103120"/>
            <a:ext cx="8320811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16570" y="198424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600200"/>
            <a:ext cx="277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2023年12月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313432"/>
            <a:ext cx="2663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米国で承認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2633472"/>
            <a:ext cx="2663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鎌状赤血球症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(12歳以上)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90174" y="198424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22244" y="1600200"/>
            <a:ext cx="277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2024年1月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377108" y="2313432"/>
            <a:ext cx="2663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米国で適応追加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77108" y="2633472"/>
            <a:ext cx="2663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β-サラセミア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(遺伝性の貧血、12歳以上)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63778" y="1984248"/>
            <a:ext cx="237744" cy="237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95848" y="1600200"/>
            <a:ext cx="277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2024年2月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150712" y="2313432"/>
            <a:ext cx="2663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欧州で条件付承認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150712" y="2633472"/>
            <a:ext cx="2663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15年間の追跡調査が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市販後条件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137381" y="198424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69451" y="1600200"/>
            <a:ext cx="27736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2026年7月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924315" y="2313432"/>
            <a:ext cx="26638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米国で年齢拡大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24315" y="2633472"/>
            <a:ext cx="2663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両適応とも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2歳以上へ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794760"/>
            <a:ext cx="536432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463040" y="39593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Casgevy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46304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CRISPR/Cas9ゲノム編集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4709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93.5%</a:t>
            </a:r>
            <a:endParaRPr lang="en-US" sz="4400" dirty="0"/>
          </a:p>
        </p:txBody>
      </p:sp>
      <p:sp>
        <p:nvSpPr>
          <p:cNvPr id="28" name="Text 24"/>
          <p:cNvSpPr txBox="1"/>
          <p:nvPr/>
        </p:nvSpPr>
        <p:spPr>
          <a:xfrm>
            <a:off x="2697480" y="4709160"/>
            <a:ext cx="2986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31例中29例が、12か月以上にわたり重い痛みの発作(血管閉塞性クリーゼ)なし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78728" y="3794760"/>
            <a:ext cx="5364328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30" name="Shape 26"/>
          <p:cNvSpPr/>
          <p:nvPr/>
        </p:nvSpPr>
        <p:spPr>
          <a:xfrm>
            <a:off x="6507328" y="39776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411480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193128" y="39593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Lyfgenia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7193128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レンチウイルスベクター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507328" y="4709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88%</a:t>
            </a:r>
            <a:endParaRPr lang="en-US" sz="4400" dirty="0"/>
          </a:p>
        </p:txBody>
      </p:sp>
      <p:sp>
        <p:nvSpPr>
          <p:cNvPr id="35" name="Text 30"/>
          <p:cNvSpPr txBox="1"/>
          <p:nvPr/>
        </p:nvSpPr>
        <p:spPr>
          <a:xfrm>
            <a:off x="8427568" y="4709160"/>
            <a:ext cx="2986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32例中28例で血管が詰まる発作が完全に消失。血液がんのリスクに関する強い警告(黒枠警告)あり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鎌状赤血球症(赤血球が変形して血管に詰まる遺伝性の病気)での結果。米国FDAの承認発表による。両製品とも2023年12月8日に米国で承認。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遺伝子治療・ゲノム編集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ゲノム編集は、自家細胞では承認、他家細胞では中止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18608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554480"/>
            <a:ext cx="5318608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自家細胞 × CRISPR/Cas9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7203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92024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Casgevy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9202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承認(米国 2023年、欧州 2024年)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70332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患者自身の血液のもとになる細胞を編集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遺伝性の血液の病気が対象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1品目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6324448" y="1554480"/>
            <a:ext cx="5318608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324448" y="1554480"/>
            <a:ext cx="5318608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他家細胞 × CRISPR/Cas9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644488" y="23774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18" y="25031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30288" y="2350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CTX110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30288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健康な人のT細胞から作るCAR-T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9433408" y="2377440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中止(2024年10月)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44488" y="309067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18" y="3216402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30288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CTX130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330288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健康な人のT細胞から作るCAR-T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9433408" y="3090672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中止(2024年8月)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644488" y="380390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18" y="3929634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30288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VCTX211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330288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膵臓の細胞のもとになる他家細胞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9433408" y="380390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中止(2025年8月)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6644488" y="4617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3品目</a:t>
            </a:r>
            <a:endParaRPr lang="en-US" sz="2800" dirty="0"/>
          </a:p>
        </p:txBody>
      </p:sp>
      <p:sp>
        <p:nvSpPr>
          <p:cNvPr id="33" name="Shape 26"/>
          <p:cNvSpPr/>
          <p:nvPr/>
        </p:nvSpPr>
        <p:spPr>
          <a:xfrm>
            <a:off x="5803240" y="3154680"/>
            <a:ext cx="585216" cy="5852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803240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548640" y="5559552"/>
            <a:ext cx="1109441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31520" y="555955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注意:品目数が少なく、中止の要因(有効性、製造、事業判断など)も特定できていない。この対比だけでは一般的な傾向と結論づけられない。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最先端の技術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最先端:体の中で編集する・作る技術が臨床段階へ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85216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8595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生体内CRISPR療法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1956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NTLA-2001(nex-z)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514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体の中で直接ゲノム編集を行う薬。心臓の病気(ATTR-CM)を対象とする第3相試験で、約1,200例を予定。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584960" y="3886200"/>
            <a:ext cx="3779520" cy="0"/>
          </a:xfrm>
          <a:prstGeom prst="line">
            <a:avLst/>
          </a:prstGeom>
          <a:noFill/>
          <a:ln w="25400">
            <a:solidFill>
              <a:srgbClr val="8793A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484376" y="3785616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401568"/>
            <a:ext cx="188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2023年12月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" y="4078224"/>
            <a:ext cx="1780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第3相を開始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374136" y="378561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529840" y="3401568"/>
            <a:ext cx="188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2025年10月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584704" y="4078224"/>
            <a:ext cx="1780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FDAが臨床ホールド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584704" y="4352544"/>
            <a:ext cx="1780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重い肝障害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患者1名が死亡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263896" y="3785616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419600" y="3401568"/>
            <a:ext cx="188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2026年3月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474464" y="4078224"/>
            <a:ext cx="1780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ホールド解除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474464" y="4352544"/>
            <a:ext cx="1780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肝機能の監視を強化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登録状態は募集中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675120" y="1554480"/>
            <a:ext cx="4967935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0" y="1737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745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543800" y="1682496"/>
            <a:ext cx="3962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塩基編集(base editing)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543800" y="1920240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BEAM-101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543800" y="2286000"/>
            <a:ext cx="3916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DNAを切らずに1文字だけ書き換える技術。鎌状赤血球症が対象。第1/2相、予定15例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675120" y="3017520"/>
            <a:ext cx="4967935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30" name="Shape 25"/>
          <p:cNvSpPr/>
          <p:nvPr/>
        </p:nvSpPr>
        <p:spPr>
          <a:xfrm>
            <a:off x="6858000" y="32004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33756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543800" y="3145536"/>
            <a:ext cx="3962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生体内でのCAR導入(in vivo CAR-T)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7543800" y="3383280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INT2104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7543800" y="3749040"/>
            <a:ext cx="3916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体の中でT細胞にCARを持たせる方式とされる。第1相、予定10例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675120" y="4480560"/>
            <a:ext cx="4967935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36" name="Shape 30"/>
          <p:cNvSpPr/>
          <p:nvPr/>
        </p:nvSpPr>
        <p:spPr>
          <a:xfrm>
            <a:off x="6858000" y="4663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800600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543800" y="4608576"/>
            <a:ext cx="3962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免疫を回避する他家細胞(HIP技術)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7543800" y="4846320"/>
            <a:ext cx="3962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他家膵島細胞の移植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7543800" y="5212080"/>
            <a:ext cx="3916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免疫抑制剤を使わず1型糖尿病の1例に移植。12週の結果が論文掲載(企業発表)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主要な一次情報で確認できた事例に限る。HIP技術の報告は1例で、論文原文は未照合。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やさしい解説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その他の3領域:免疫細胞、体にある幹細胞、育てた組織を使う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15258" cy="43891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83664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737360"/>
            <a:ext cx="2235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CAR-T以外の免疫細胞療法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60604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がんと闘う免疫細胞を、体の外で増やしたり、力を高めたりして戻す。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" y="3291840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86968" y="329184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TIL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2029968" y="3291840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がんの中にいたリンパ球を取り出して増やす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77240" y="3858768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86968" y="385876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TCR-T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2029968" y="3858768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T細胞に、がんを見分ける受容体を入れる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77240" y="4425696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86968" y="44256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樹状細胞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2029968" y="4425696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免疫に、がんの目印を伝える細胞を使う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5047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承認済みの例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5276088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Amtagvi、Tecelra、Provenge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(いずれも米国)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338218" y="1554480"/>
            <a:ext cx="3515258" cy="43891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4566818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122" y="1883664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435498" y="1737360"/>
            <a:ext cx="2235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体性幹細胞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566818" y="260604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骨髄や皮膚など、体の中にもともとある幹細胞を使う。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66818" y="3291840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676546" y="329184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間葉系幹細胞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819546" y="3291840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骨髄などにある幹細胞。移植後の合併症や軟骨の治療に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66818" y="3858768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676546" y="385876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表皮の細胞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5819546" y="3858768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患者の皮膚から育てて、重いやけどの治療に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566818" y="4425696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676546" y="44256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角膜の幹細胞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819546" y="4425696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角膜の表面を作り直す治療に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4566818" y="5047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承認済みの例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4566818" y="5276088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TEMCELL HS注、ジェイス、Ryoncil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Holoclar、CARTISTEM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8127797" y="1554480"/>
            <a:ext cx="3515258" cy="43891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38" name="Shape 33"/>
          <p:cNvSpPr/>
          <p:nvPr/>
        </p:nvSpPr>
        <p:spPr>
          <a:xfrm>
            <a:off x="8356397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01" y="1883664"/>
            <a:ext cx="438912" cy="43891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225077" y="1737360"/>
            <a:ext cx="2235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組織工学・体細胞製品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8356397" y="2606040"/>
            <a:ext cx="30580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細胞を体の外で育て、シートや組織の形にして移植する。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8356397" y="3291840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466125" y="329184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軟骨</a:t>
            </a:r>
            <a:endParaRPr lang="en-US" sz="1150" dirty="0"/>
          </a:p>
        </p:txBody>
      </p:sp>
      <p:sp>
        <p:nvSpPr>
          <p:cNvPr id="44" name="Text 38"/>
          <p:cNvSpPr txBox="1"/>
          <p:nvPr/>
        </p:nvSpPr>
        <p:spPr>
          <a:xfrm>
            <a:off x="9609125" y="3291840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患者の軟骨細胞を育てて、ひざに移植する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8356397" y="3858768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8466125" y="385876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角膜・膵島</a:t>
            </a:r>
            <a:endParaRPr lang="en-US" sz="1150" dirty="0"/>
          </a:p>
        </p:txBody>
      </p:sp>
      <p:sp>
        <p:nvSpPr>
          <p:cNvPr id="47" name="Text 41"/>
          <p:cNvSpPr txBox="1"/>
          <p:nvPr/>
        </p:nvSpPr>
        <p:spPr>
          <a:xfrm>
            <a:off x="9609125" y="3858768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角膜の内側の細胞や、膵臓の細胞を移植する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8356397" y="4425696"/>
            <a:ext cx="3058058" cy="493776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466125" y="44256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人工血管</a:t>
            </a:r>
            <a:endParaRPr lang="en-US" sz="1150" dirty="0"/>
          </a:p>
        </p:txBody>
      </p:sp>
      <p:sp>
        <p:nvSpPr>
          <p:cNvPr id="50" name="Text 44"/>
          <p:cNvSpPr txBox="1"/>
          <p:nvPr/>
        </p:nvSpPr>
        <p:spPr>
          <a:xfrm>
            <a:off x="9609125" y="4425696"/>
            <a:ext cx="170474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細胞を含まない材料で血管を作る</a:t>
            </a:r>
            <a:endParaRPr lang="en-US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8356397" y="5047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承認済みの例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8356397" y="5276088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JACC、ビズノバ、MACI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Lantidra、Symvess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CAR-T以外の免疫細胞療法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CAR-T以外の免疫細胞療法:承認は米国の3品目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26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3273552" y="1426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種類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462272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19672" y="14264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426464"/>
            <a:ext cx="911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997891" y="1426464"/>
            <a:ext cx="911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909182" y="1426464"/>
            <a:ext cx="911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820473" y="1426464"/>
            <a:ext cx="911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731764" y="1426464"/>
            <a:ext cx="9112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47088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1847088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2286000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724912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3163824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3602736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4041648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480560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919472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5358384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Shape 21"/>
          <p:cNvSpPr/>
          <p:nvPr/>
        </p:nvSpPr>
        <p:spPr>
          <a:xfrm>
            <a:off x="548640" y="5797296"/>
            <a:ext cx="11094415" cy="21945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7997891" y="1847088"/>
            <a:ext cx="0" cy="416966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8909182" y="1847088"/>
            <a:ext cx="0" cy="416966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9820473" y="1847088"/>
            <a:ext cx="0" cy="416966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10731764" y="1847088"/>
            <a:ext cx="0" cy="4169664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621792" y="184708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Amtagvi(lifileucel)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3273552" y="18470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TIL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462272" y="184708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メラノーマ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19672" y="18470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132320" y="1888785"/>
            <a:ext cx="4465015" cy="136063"/>
          </a:xfrm>
          <a:prstGeom prst="roundRect">
            <a:avLst>
              <a:gd name="adj" fmla="val 26882"/>
            </a:avLst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223760" y="1888785"/>
            <a:ext cx="4327855" cy="13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承認(2024年2月)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" y="206654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Tecelra(afami-cel)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3273552" y="206654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TCR-T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462272" y="206654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滑膜肉腫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19672" y="20665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132320" y="2108241"/>
            <a:ext cx="4465015" cy="136063"/>
          </a:xfrm>
          <a:prstGeom prst="roundRect">
            <a:avLst>
              <a:gd name="adj" fmla="val 26882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223760" y="2108241"/>
            <a:ext cx="4327855" cy="13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2024年8月 加速承認 → 2026年6月 正式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21792" y="228600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Provenge(sipuleucel-T)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3273552" y="228600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樹状細胞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4462272" y="228600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前立腺がん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519672" y="22860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132320" y="2327697"/>
            <a:ext cx="4465015" cy="136063"/>
          </a:xfrm>
          <a:prstGeom prst="roundRect">
            <a:avLst>
              <a:gd name="adj" fmla="val 26882"/>
            </a:avLst>
          </a:prstGeom>
          <a:solidFill>
            <a:schemeClr val="accent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223760" y="2327697"/>
            <a:ext cx="4327855" cy="13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承認(2010年4月)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21792" y="250545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Provenge(sipuleucel-T)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273552" y="250545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樹状細胞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4462272" y="250545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前立腺がん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6519672" y="250545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欧州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132320" y="2547153"/>
            <a:ext cx="4465015" cy="136063"/>
          </a:xfrm>
          <a:prstGeom prst="roundRect">
            <a:avLst>
              <a:gd name="adj" fmla="val 26882"/>
            </a:avLst>
          </a:prstGeom>
          <a:solidFill>
            <a:schemeClr val="accent6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223760" y="2547153"/>
            <a:ext cx="4327855" cy="13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2013年承認 → 2015年取消(商業的理由)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21792" y="272491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CreaVax-RCC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3273552" y="2724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樹状細胞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4462272" y="272491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転移性腎細胞癌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6519672" y="27249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韓国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132320" y="2766609"/>
            <a:ext cx="4465015" cy="136063"/>
          </a:xfrm>
          <a:prstGeom prst="roundRect">
            <a:avLst>
              <a:gd name="adj" fmla="val 26882"/>
            </a:avLst>
          </a:prstGeom>
          <a:solidFill>
            <a:schemeClr val="accent4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223760" y="2766609"/>
            <a:ext cx="4327855" cy="13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2007年仮承認(現状は未確認)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621792" y="294436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Amtagvi(lifileucel)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3273552" y="29443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TIL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462272" y="294436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メラノーマ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519672" y="2944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欧州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150608" y="2999671"/>
            <a:ext cx="108850" cy="108850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350898" y="2944368"/>
            <a:ext cx="4219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申請取り下げ(2025年7月)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21792" y="3163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AlloNK(AB-101)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3273552" y="31638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NK細胞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4462272" y="316382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関節リウマチなど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6519672" y="3163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7132320" y="3205521"/>
            <a:ext cx="2642433" cy="136063"/>
          </a:xfrm>
          <a:prstGeom prst="roundRect">
            <a:avLst>
              <a:gd name="adj" fmla="val 26882"/>
            </a:avLst>
          </a:prstGeom>
          <a:solidFill>
            <a:schemeClr val="tx2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847905" y="3163824"/>
            <a:ext cx="1776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第2a相・募集中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621792" y="3383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LioCyx-M004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3273552" y="338328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TCR-T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4462272" y="338328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HBV関連肝細胞癌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519672" y="338328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132320" y="3424977"/>
            <a:ext cx="2642433" cy="136063"/>
          </a:xfrm>
          <a:prstGeom prst="roundRect">
            <a:avLst>
              <a:gd name="adj" fmla="val 26882"/>
            </a:avLst>
          </a:prstGeom>
          <a:solidFill>
            <a:schemeClr val="tx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9847905" y="3383280"/>
            <a:ext cx="1776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第2相(国際多施設)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21792" y="3602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MG4101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3273552" y="36027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NK細胞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4462272" y="360273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急性骨髄性白血病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6519672" y="36027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韓国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7132320" y="3644433"/>
            <a:ext cx="2642433" cy="136063"/>
          </a:xfrm>
          <a:prstGeom prst="roundRect">
            <a:avLst>
              <a:gd name="adj" fmla="val 26882"/>
            </a:avLst>
          </a:prstGeom>
          <a:solidFill>
            <a:schemeClr val="accent2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9847905" y="3602736"/>
            <a:ext cx="1776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第II相・完了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621792" y="382219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WT1樹状細胞ワクチン(信州大ほか)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3273552" y="38221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樹状細胞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4462272" y="382219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膵癌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6519672" y="38221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7132320" y="3863889"/>
            <a:ext cx="2642433" cy="136063"/>
          </a:xfrm>
          <a:prstGeom prst="roundRect">
            <a:avLst>
              <a:gd name="adj" fmla="val 26882"/>
            </a:avLst>
          </a:prstGeom>
          <a:solidFill>
            <a:schemeClr val="accent5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847905" y="3822192"/>
            <a:ext cx="1776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第II相・募集中断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621792" y="404164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LioCyx-M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3273552" y="4041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TCR-T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4462272" y="404164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HBV関連肝細胞癌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6519672" y="40416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7132320" y="4083345"/>
            <a:ext cx="1731142" cy="136063"/>
          </a:xfrm>
          <a:prstGeom prst="roundRect">
            <a:avLst>
              <a:gd name="adj" fmla="val 26882"/>
            </a:avLst>
          </a:prstGeom>
          <a:solidFill>
            <a:schemeClr val="tx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8936614" y="4041648"/>
            <a:ext cx="2688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621792" y="426110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INB-100</a:t>
            </a:r>
            <a:endParaRPr lang="en-US" sz="1050" dirty="0"/>
          </a:p>
        </p:txBody>
      </p:sp>
      <p:sp>
        <p:nvSpPr>
          <p:cNvPr id="96" name="Text 93"/>
          <p:cNvSpPr txBox="1"/>
          <p:nvPr/>
        </p:nvSpPr>
        <p:spPr>
          <a:xfrm>
            <a:off x="3273552" y="426110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γδT細胞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4462272" y="426110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白血病、MDS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6519672" y="426110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7132320" y="4302801"/>
            <a:ext cx="1731142" cy="136063"/>
          </a:xfrm>
          <a:prstGeom prst="roundRect">
            <a:avLst>
              <a:gd name="adj" fmla="val 26882"/>
            </a:avLst>
          </a:prstGeom>
          <a:solidFill>
            <a:schemeClr val="tx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8936614" y="4261104"/>
            <a:ext cx="2688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第I相・募集中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621792" y="448056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CT-0508</a:t>
            </a:r>
            <a:endParaRPr lang="en-US" sz="1050" dirty="0"/>
          </a:p>
        </p:txBody>
      </p:sp>
      <p:sp>
        <p:nvSpPr>
          <p:cNvPr id="102" name="Text 99"/>
          <p:cNvSpPr txBox="1"/>
          <p:nvPr/>
        </p:nvSpPr>
        <p:spPr>
          <a:xfrm>
            <a:off x="3273552" y="448056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CAR-M</a:t>
            </a:r>
            <a:endParaRPr lang="en-US" sz="1000" dirty="0"/>
          </a:p>
        </p:txBody>
      </p:sp>
      <p:sp>
        <p:nvSpPr>
          <p:cNvPr id="103" name="Text 100"/>
          <p:cNvSpPr txBox="1"/>
          <p:nvPr/>
        </p:nvSpPr>
        <p:spPr>
          <a:xfrm>
            <a:off x="4462272" y="448056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HER2陽性固形腫瘍</a:t>
            </a:r>
            <a:endParaRPr lang="en-US" sz="1000" dirty="0"/>
          </a:p>
        </p:txBody>
      </p:sp>
      <p:sp>
        <p:nvSpPr>
          <p:cNvPr id="104" name="Text 101"/>
          <p:cNvSpPr txBox="1"/>
          <p:nvPr/>
        </p:nvSpPr>
        <p:spPr>
          <a:xfrm>
            <a:off x="6519672" y="44805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7132320" y="4522257"/>
            <a:ext cx="1731142" cy="136063"/>
          </a:xfrm>
          <a:prstGeom prst="roundRect">
            <a:avLst>
              <a:gd name="adj" fmla="val 26882"/>
            </a:avLst>
          </a:prstGeom>
          <a:solidFill>
            <a:schemeClr val="tx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936614" y="4480560"/>
            <a:ext cx="2688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第I相・実施中(募集終了)</a:t>
            </a:r>
            <a:endParaRPr lang="en-US" sz="1000" dirty="0"/>
          </a:p>
        </p:txBody>
      </p:sp>
      <p:sp>
        <p:nvSpPr>
          <p:cNvPr id="107" name="Text 104"/>
          <p:cNvSpPr txBox="1"/>
          <p:nvPr/>
        </p:nvSpPr>
        <p:spPr>
          <a:xfrm>
            <a:off x="621792" y="47000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WT1樹状細胞ワクチン(慈恵医大)</a:t>
            </a:r>
            <a:endParaRPr lang="en-US" sz="1050" dirty="0"/>
          </a:p>
        </p:txBody>
      </p:sp>
      <p:sp>
        <p:nvSpPr>
          <p:cNvPr id="108" name="Text 105"/>
          <p:cNvSpPr txBox="1"/>
          <p:nvPr/>
        </p:nvSpPr>
        <p:spPr>
          <a:xfrm>
            <a:off x="3273552" y="470001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樹状細胞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4462272" y="470001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切除不能膵癌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6519672" y="47000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>
            <a:off x="7132320" y="4741713"/>
            <a:ext cx="1731142" cy="136063"/>
          </a:xfrm>
          <a:prstGeom prst="roundRect">
            <a:avLst>
              <a:gd name="adj" fmla="val 26882"/>
            </a:avLst>
          </a:prstGeom>
          <a:solidFill>
            <a:schemeClr val="accent2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8936614" y="4700016"/>
            <a:ext cx="2688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第I相・完了</a:t>
            </a:r>
            <a:endParaRPr lang="en-US" sz="1000" dirty="0"/>
          </a:p>
        </p:txBody>
      </p:sp>
      <p:sp>
        <p:nvSpPr>
          <p:cNvPr id="113" name="Text 110"/>
          <p:cNvSpPr txBox="1"/>
          <p:nvPr/>
        </p:nvSpPr>
        <p:spPr>
          <a:xfrm>
            <a:off x="621792" y="49194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LK101</a:t>
            </a:r>
            <a:endParaRPr lang="en-US" sz="1050" dirty="0"/>
          </a:p>
        </p:txBody>
      </p:sp>
      <p:sp>
        <p:nvSpPr>
          <p:cNvPr id="114" name="Text 111"/>
          <p:cNvSpPr txBox="1"/>
          <p:nvPr/>
        </p:nvSpPr>
        <p:spPr>
          <a:xfrm>
            <a:off x="3273552" y="49194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mRNAワクチン</a:t>
            </a:r>
            <a:endParaRPr lang="en-US" sz="1000" dirty="0"/>
          </a:p>
        </p:txBody>
      </p:sp>
      <p:sp>
        <p:nvSpPr>
          <p:cNvPr id="115" name="Text 112"/>
          <p:cNvSpPr txBox="1"/>
          <p:nvPr/>
        </p:nvSpPr>
        <p:spPr>
          <a:xfrm>
            <a:off x="4462272" y="4919472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進行性固形腫瘍</a:t>
            </a:r>
            <a:endParaRPr lang="en-US" sz="1000" dirty="0"/>
          </a:p>
        </p:txBody>
      </p:sp>
      <p:sp>
        <p:nvSpPr>
          <p:cNvPr id="116" name="Text 113"/>
          <p:cNvSpPr txBox="1"/>
          <p:nvPr/>
        </p:nvSpPr>
        <p:spPr>
          <a:xfrm>
            <a:off x="6519672" y="49194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117" name="Shape 114"/>
          <p:cNvSpPr/>
          <p:nvPr/>
        </p:nvSpPr>
        <p:spPr>
          <a:xfrm>
            <a:off x="7132320" y="4961169"/>
            <a:ext cx="819851" cy="136063"/>
          </a:xfrm>
          <a:prstGeom prst="roundRect">
            <a:avLst>
              <a:gd name="adj" fmla="val 26882"/>
            </a:avLst>
          </a:prstGeom>
          <a:solidFill>
            <a:schemeClr val="accent3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8025323" y="4919472"/>
            <a:ext cx="3599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臨床試験の承認を取得(2023年3月)</a:t>
            </a:r>
            <a:endParaRPr lang="en-US" sz="1000" dirty="0"/>
          </a:p>
        </p:txBody>
      </p:sp>
      <p:sp>
        <p:nvSpPr>
          <p:cNvPr id="119" name="Text 116"/>
          <p:cNvSpPr txBox="1"/>
          <p:nvPr/>
        </p:nvSpPr>
        <p:spPr>
          <a:xfrm>
            <a:off x="621792" y="51389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γδT細胞+標的治療の併用</a:t>
            </a:r>
            <a:endParaRPr lang="en-US" sz="1050" dirty="0"/>
          </a:p>
        </p:txBody>
      </p:sp>
      <p:sp>
        <p:nvSpPr>
          <p:cNvPr id="120" name="Text 117"/>
          <p:cNvSpPr txBox="1"/>
          <p:nvPr/>
        </p:nvSpPr>
        <p:spPr>
          <a:xfrm>
            <a:off x="3273552" y="513892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γδT細胞</a:t>
            </a:r>
            <a:endParaRPr lang="en-US" sz="1000" dirty="0"/>
          </a:p>
        </p:txBody>
      </p:sp>
      <p:sp>
        <p:nvSpPr>
          <p:cNvPr id="121" name="Text 118"/>
          <p:cNvSpPr txBox="1"/>
          <p:nvPr/>
        </p:nvSpPr>
        <p:spPr>
          <a:xfrm>
            <a:off x="4462272" y="513892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肝細胞癌</a:t>
            </a:r>
            <a:endParaRPr lang="en-US" sz="1000" dirty="0"/>
          </a:p>
        </p:txBody>
      </p:sp>
      <p:sp>
        <p:nvSpPr>
          <p:cNvPr id="122" name="Text 119"/>
          <p:cNvSpPr txBox="1"/>
          <p:nvPr/>
        </p:nvSpPr>
        <p:spPr>
          <a:xfrm>
            <a:off x="6519672" y="51389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7132320" y="5180625"/>
            <a:ext cx="819851" cy="136063"/>
          </a:xfrm>
          <a:prstGeom prst="roundRect">
            <a:avLst>
              <a:gd name="adj" fmla="val 26882"/>
            </a:avLst>
          </a:prstGeom>
          <a:solidFill>
            <a:schemeClr val="accent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8025323" y="5138928"/>
            <a:ext cx="3599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治験開始前</a:t>
            </a:r>
            <a:endParaRPr lang="en-US" sz="1000" dirty="0"/>
          </a:p>
        </p:txBody>
      </p:sp>
      <p:sp>
        <p:nvSpPr>
          <p:cNvPr id="125" name="Text 122"/>
          <p:cNvSpPr txBox="1"/>
          <p:nvPr/>
        </p:nvSpPr>
        <p:spPr>
          <a:xfrm>
            <a:off x="621792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慶應TIL療法</a:t>
            </a:r>
            <a:endParaRPr lang="en-US" sz="1050" dirty="0"/>
          </a:p>
        </p:txBody>
      </p:sp>
      <p:sp>
        <p:nvSpPr>
          <p:cNvPr id="126" name="Text 123"/>
          <p:cNvSpPr txBox="1"/>
          <p:nvPr/>
        </p:nvSpPr>
        <p:spPr>
          <a:xfrm>
            <a:off x="3273552" y="535838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TIL</a:t>
            </a:r>
            <a:endParaRPr lang="en-US" sz="1000" dirty="0"/>
          </a:p>
        </p:txBody>
      </p:sp>
      <p:sp>
        <p:nvSpPr>
          <p:cNvPr id="127" name="Text 124"/>
          <p:cNvSpPr txBox="1"/>
          <p:nvPr/>
        </p:nvSpPr>
        <p:spPr>
          <a:xfrm>
            <a:off x="4462272" y="5358384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進行子宮頸癌</a:t>
            </a:r>
            <a:endParaRPr lang="en-US" sz="1000" dirty="0"/>
          </a:p>
        </p:txBody>
      </p:sp>
      <p:sp>
        <p:nvSpPr>
          <p:cNvPr id="128" name="Text 125"/>
          <p:cNvSpPr txBox="1"/>
          <p:nvPr/>
        </p:nvSpPr>
        <p:spPr>
          <a:xfrm>
            <a:off x="6519672" y="53583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7150608" y="5413687"/>
            <a:ext cx="108850" cy="108850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7350898" y="5358384"/>
            <a:ext cx="4219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先進医療として実施中</a:t>
            </a:r>
            <a:endParaRPr lang="en-US" sz="1000" dirty="0"/>
          </a:p>
        </p:txBody>
      </p:sp>
      <p:sp>
        <p:nvSpPr>
          <p:cNvPr id="131" name="Text 128"/>
          <p:cNvSpPr txBox="1"/>
          <p:nvPr/>
        </p:nvSpPr>
        <p:spPr>
          <a:xfrm>
            <a:off x="621792" y="557784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ADI-001</a:t>
            </a:r>
            <a:endParaRPr lang="en-US" sz="1050" dirty="0"/>
          </a:p>
        </p:txBody>
      </p:sp>
      <p:sp>
        <p:nvSpPr>
          <p:cNvPr id="132" name="Text 129"/>
          <p:cNvSpPr txBox="1"/>
          <p:nvPr/>
        </p:nvSpPr>
        <p:spPr>
          <a:xfrm>
            <a:off x="3273552" y="557784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CAR-γδT</a:t>
            </a:r>
            <a:endParaRPr lang="en-US" sz="1000" dirty="0"/>
          </a:p>
        </p:txBody>
      </p:sp>
      <p:sp>
        <p:nvSpPr>
          <p:cNvPr id="133" name="Text 130"/>
          <p:cNvSpPr txBox="1"/>
          <p:nvPr/>
        </p:nvSpPr>
        <p:spPr>
          <a:xfrm>
            <a:off x="4462272" y="55778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B細胞性悪性腫瘍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6519672" y="55778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135" name="Shape 132"/>
          <p:cNvSpPr/>
          <p:nvPr/>
        </p:nvSpPr>
        <p:spPr>
          <a:xfrm>
            <a:off x="7150608" y="5633143"/>
            <a:ext cx="108850" cy="10885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7350898" y="5577840"/>
            <a:ext cx="4219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中止</a:t>
            </a:r>
            <a:endParaRPr lang="en-US" sz="1000" dirty="0"/>
          </a:p>
        </p:txBody>
      </p:sp>
      <p:sp>
        <p:nvSpPr>
          <p:cNvPr id="137" name="Text 134"/>
          <p:cNvSpPr txBox="1"/>
          <p:nvPr/>
        </p:nvSpPr>
        <p:spPr>
          <a:xfrm>
            <a:off x="621792" y="579729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OmnImmune(TCB008)</a:t>
            </a:r>
            <a:endParaRPr lang="en-US" sz="1050" dirty="0"/>
          </a:p>
        </p:txBody>
      </p:sp>
      <p:sp>
        <p:nvSpPr>
          <p:cNvPr id="138" name="Text 135"/>
          <p:cNvSpPr txBox="1"/>
          <p:nvPr/>
        </p:nvSpPr>
        <p:spPr>
          <a:xfrm>
            <a:off x="3273552" y="579729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γδT細胞</a:t>
            </a:r>
            <a:endParaRPr lang="en-US" sz="1000" dirty="0"/>
          </a:p>
        </p:txBody>
      </p:sp>
      <p:sp>
        <p:nvSpPr>
          <p:cNvPr id="139" name="Text 136"/>
          <p:cNvSpPr txBox="1"/>
          <p:nvPr/>
        </p:nvSpPr>
        <p:spPr>
          <a:xfrm>
            <a:off x="4462272" y="579729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AML、MDS</a:t>
            </a:r>
            <a:endParaRPr lang="en-US" sz="1000" dirty="0"/>
          </a:p>
        </p:txBody>
      </p:sp>
      <p:sp>
        <p:nvSpPr>
          <p:cNvPr id="140" name="Text 137"/>
          <p:cNvSpPr txBox="1"/>
          <p:nvPr/>
        </p:nvSpPr>
        <p:spPr>
          <a:xfrm>
            <a:off x="6519672" y="57972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欧州</a:t>
            </a:r>
            <a:endParaRPr lang="en-US" sz="1000" dirty="0"/>
          </a:p>
        </p:txBody>
      </p:sp>
      <p:sp>
        <p:nvSpPr>
          <p:cNvPr id="141" name="Shape 138"/>
          <p:cNvSpPr/>
          <p:nvPr/>
        </p:nvSpPr>
        <p:spPr>
          <a:xfrm>
            <a:off x="7150608" y="5852599"/>
            <a:ext cx="108850" cy="10885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39"/>
          <p:cNvSpPr txBox="1"/>
          <p:nvPr/>
        </p:nvSpPr>
        <p:spPr>
          <a:xfrm>
            <a:off x="7350898" y="5797296"/>
            <a:ext cx="4219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中止(2025年9月)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548640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749808" y="6144768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1271016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1472184" y="614476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承認(一次情報で未確認)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3319272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3520440" y="6144768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承認取消・失効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4704588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4905756" y="6144768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5559552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5760720" y="6144768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完了・終了</a:t>
            </a:r>
            <a:endParaRPr lang="en-US" sz="1000" dirty="0"/>
          </a:p>
        </p:txBody>
      </p:sp>
      <p:sp>
        <p:nvSpPr>
          <p:cNvPr id="153" name="Shape 150"/>
          <p:cNvSpPr/>
          <p:nvPr/>
        </p:nvSpPr>
        <p:spPr>
          <a:xfrm>
            <a:off x="6679692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6880860" y="6144768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前臨床・開始前</a:t>
            </a:r>
            <a:endParaRPr lang="en-US" sz="1000" dirty="0"/>
          </a:p>
        </p:txBody>
      </p:sp>
      <p:sp>
        <p:nvSpPr>
          <p:cNvPr id="155" name="Shape 152"/>
          <p:cNvSpPr/>
          <p:nvPr/>
        </p:nvSpPr>
        <p:spPr>
          <a:xfrm>
            <a:off x="8065008" y="6172200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8266176" y="614476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中止・中断・未達</a:t>
            </a:r>
            <a:endParaRPr lang="en-US" sz="1000" dirty="0"/>
          </a:p>
        </p:txBody>
      </p:sp>
      <p:sp>
        <p:nvSpPr>
          <p:cNvPr id="157" name="Shape 154"/>
          <p:cNvSpPr/>
          <p:nvPr/>
        </p:nvSpPr>
        <p:spPr>
          <a:xfrm>
            <a:off x="9592056" y="617220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58" name="Text 155"/>
          <p:cNvSpPr txBox="1"/>
          <p:nvPr/>
        </p:nvSpPr>
        <p:spPr>
          <a:xfrm>
            <a:off x="9784080" y="614476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体性幹細胞(間葉系幹細胞など)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体性幹細胞:承認は各地域に広がるが、後期試験の未達も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264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3273552" y="14264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4264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426464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595555" y="1426464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07430" y="1426464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19305" y="1426464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631180" y="1426464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1847088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8470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3042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27614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186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36758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41330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45902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50474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5504688"/>
            <a:ext cx="11094415" cy="228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7595555" y="1847088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8607430" y="1847088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9619305" y="1847088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631180" y="1847088"/>
            <a:ext cx="0" cy="4114800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21792" y="18470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ジェイス(自家培養表皮)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273552" y="1847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重症熱傷、表皮水疱症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016752" y="18470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629400" y="18905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720840" y="18905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承認(2007年10月)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21792" y="20756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TEMCELL HS注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273552" y="20756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急性GVHD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016752" y="20756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29400" y="21191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720840" y="21191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承認(2015年9月)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21792" y="23042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ステミラック注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3273552" y="23042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外傷性脊髄損傷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016752" y="23042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629400" y="23477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720840" y="23477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条件及び期限付承認(2018年12月)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21792" y="25328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Ryoncil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3273552" y="25328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小児のステロイド抵抗性急性GVHD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016752" y="25328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629400" y="25763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720840" y="25763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承認(2024年12月)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21792" y="27614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Holoclar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273552" y="27614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角膜輪部幹細胞疲弊症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016752" y="27614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欧州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629400" y="28049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720840" y="28049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2015年2月 条件付 → 2024年2月 標準承認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21792" y="29900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艾米迈托赛(Amimestrocel)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3273552" y="2990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適応症は一次情報で未確認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016752" y="29900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629400" y="30335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6720840" y="30335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条件付承認(2025年1月)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21792" y="32186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CARTISTEM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3273552" y="32186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変形性関節症(軟骨欠損)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6016752" y="32186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韓国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629400" y="32621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6720840" y="32621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承認(2012年1月)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21792" y="34472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Cellgram-AMI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3273552" y="34472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急性心筋梗塞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6016752" y="34472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韓国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6629400" y="34907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720840" y="34907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承認(2011年7月)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621792" y="36758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Alofisel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3273552" y="36758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クローン病の肛門周囲瘻孔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6016752" y="36758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欧州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629400" y="3719322"/>
            <a:ext cx="4967935" cy="141732"/>
          </a:xfrm>
          <a:prstGeom prst="roundRect">
            <a:avLst>
              <a:gd name="adj" fmla="val 25806"/>
            </a:avLst>
          </a:prstGeom>
          <a:solidFill>
            <a:schemeClr val="accent6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720840" y="3719322"/>
            <a:ext cx="4830775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2018年3月承認 → 2024年12月取消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621792" y="39044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CARTISTEM(米国治験)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3273552" y="39044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変形性関節症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016752" y="39044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6629400" y="3947922"/>
            <a:ext cx="3956060" cy="141732"/>
          </a:xfrm>
          <a:prstGeom prst="roundRect">
            <a:avLst>
              <a:gd name="adj" fmla="val 25806"/>
            </a:avLst>
          </a:prstGeom>
          <a:solidFill>
            <a:schemeClr val="tx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6720840" y="3947922"/>
            <a:ext cx="38189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第3相・募集中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21792" y="41330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gMSC®1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3273552" y="4133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膝関節軟骨損傷など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6016752" y="41330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6629400" y="4176522"/>
            <a:ext cx="3956060" cy="141732"/>
          </a:xfrm>
          <a:prstGeom prst="roundRect">
            <a:avLst>
              <a:gd name="adj" fmla="val 25806"/>
            </a:avLst>
          </a:prstGeom>
          <a:solidFill>
            <a:schemeClr val="accent5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6720840" y="4176522"/>
            <a:ext cx="38189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第III相・主要評価項目未達(新たな第3相を申請中)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621792" y="43616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CardiAMP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3273552" y="43616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虚血性心不全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6016752" y="43616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6629400" y="4405122"/>
            <a:ext cx="3956060" cy="141732"/>
          </a:xfrm>
          <a:prstGeom prst="roundRect">
            <a:avLst>
              <a:gd name="adj" fmla="val 25806"/>
            </a:avLst>
          </a:prstGeom>
          <a:solidFill>
            <a:schemeClr val="accent5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6720840" y="4405122"/>
            <a:ext cx="38189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第III相・主要評価項目未達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621792" y="45902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laromestrocel(Lomecel-B)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3273552" y="45902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左心低形成症候群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6016752" y="45902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米国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6629400" y="4633722"/>
            <a:ext cx="2944185" cy="141732"/>
          </a:xfrm>
          <a:prstGeom prst="roundRect">
            <a:avLst>
              <a:gd name="adj" fmla="val 25806"/>
            </a:avLst>
          </a:prstGeom>
          <a:solidFill>
            <a:schemeClr val="accent5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9646737" y="4590288"/>
            <a:ext cx="197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第IIb相・未達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621792" y="48188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歯髄由来MSC骨再生療法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3273552" y="48188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歯槽骨萎縮症</a:t>
            </a:r>
            <a:endParaRPr lang="en-US" sz="1000" dirty="0"/>
          </a:p>
        </p:txBody>
      </p:sp>
      <p:sp>
        <p:nvSpPr>
          <p:cNvPr id="94" name="Text 91"/>
          <p:cNvSpPr txBox="1"/>
          <p:nvPr/>
        </p:nvSpPr>
        <p:spPr>
          <a:xfrm>
            <a:off x="6016752" y="48188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6629400" y="4862322"/>
            <a:ext cx="1932310" cy="141732"/>
          </a:xfrm>
          <a:prstGeom prst="roundRect">
            <a:avLst>
              <a:gd name="adj" fmla="val 25806"/>
            </a:avLst>
          </a:prstGeom>
          <a:solidFill>
            <a:schemeClr val="tx2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8634862" y="4818888"/>
            <a:ext cx="298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第I相・募集中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621792" y="50474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UC-MSC(宣武医院)</a:t>
            </a:r>
            <a:endParaRPr lang="en-US" sz="1050" dirty="0"/>
          </a:p>
        </p:txBody>
      </p:sp>
      <p:sp>
        <p:nvSpPr>
          <p:cNvPr id="98" name="Text 95"/>
          <p:cNvSpPr txBox="1"/>
          <p:nvPr/>
        </p:nvSpPr>
        <p:spPr>
          <a:xfrm>
            <a:off x="3273552" y="50474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亜急性期の虚血性脳卒中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6016752" y="50474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6629400" y="5090922"/>
            <a:ext cx="1932310" cy="141732"/>
          </a:xfrm>
          <a:prstGeom prst="roundRect">
            <a:avLst>
              <a:gd name="adj" fmla="val 25806"/>
            </a:avLst>
          </a:prstGeom>
          <a:solidFill>
            <a:schemeClr val="tx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8634862" y="5047488"/>
            <a:ext cx="298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第I相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621792" y="52760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it-hMSC(ASSIST試験)</a:t>
            </a:r>
            <a:endParaRPr lang="en-US" sz="1050" dirty="0"/>
          </a:p>
        </p:txBody>
      </p:sp>
      <p:sp>
        <p:nvSpPr>
          <p:cNvPr id="103" name="Text 100"/>
          <p:cNvSpPr txBox="1"/>
          <p:nvPr/>
        </p:nvSpPr>
        <p:spPr>
          <a:xfrm>
            <a:off x="3273552" y="52760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虚血性脳卒中</a:t>
            </a:r>
            <a:endParaRPr lang="en-US" sz="1000" dirty="0"/>
          </a:p>
        </p:txBody>
      </p:sp>
      <p:sp>
        <p:nvSpPr>
          <p:cNvPr id="104" name="Text 101"/>
          <p:cNvSpPr txBox="1"/>
          <p:nvPr/>
        </p:nvSpPr>
        <p:spPr>
          <a:xfrm>
            <a:off x="6016752" y="52760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中国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6647688" y="5333695"/>
            <a:ext cx="113386" cy="11338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852514" y="5276088"/>
            <a:ext cx="4717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第I/IIa相(登録状態は不明)</a:t>
            </a:r>
            <a:endParaRPr lang="en-US" sz="1000" dirty="0"/>
          </a:p>
        </p:txBody>
      </p:sp>
      <p:sp>
        <p:nvSpPr>
          <p:cNvPr id="107" name="Text 104"/>
          <p:cNvSpPr txBox="1"/>
          <p:nvPr/>
        </p:nvSpPr>
        <p:spPr>
          <a:xfrm>
            <a:off x="621792" y="55046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Allo-JaCE03</a:t>
            </a:r>
            <a:endParaRPr lang="en-US" sz="1050" dirty="0"/>
          </a:p>
        </p:txBody>
      </p:sp>
      <p:sp>
        <p:nvSpPr>
          <p:cNvPr id="108" name="Text 105"/>
          <p:cNvSpPr txBox="1"/>
          <p:nvPr/>
        </p:nvSpPr>
        <p:spPr>
          <a:xfrm>
            <a:off x="3273552" y="55046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深達性II度熱傷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6016752" y="55046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6647688" y="5562295"/>
            <a:ext cx="113386" cy="11338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6852514" y="5504688"/>
            <a:ext cx="4717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治験中(相の記載なし)</a:t>
            </a:r>
            <a:endParaRPr lang="en-US" sz="1000" dirty="0"/>
          </a:p>
        </p:txBody>
      </p:sp>
      <p:sp>
        <p:nvSpPr>
          <p:cNvPr id="112" name="Text 109"/>
          <p:cNvSpPr txBox="1"/>
          <p:nvPr/>
        </p:nvSpPr>
        <p:spPr>
          <a:xfrm>
            <a:off x="621792" y="573328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歯髄幹細胞療法(他家)</a:t>
            </a:r>
            <a:endParaRPr lang="en-US" sz="1050" dirty="0"/>
          </a:p>
        </p:txBody>
      </p:sp>
      <p:sp>
        <p:nvSpPr>
          <p:cNvPr id="113" name="Text 110"/>
          <p:cNvSpPr txBox="1"/>
          <p:nvPr/>
        </p:nvSpPr>
        <p:spPr>
          <a:xfrm>
            <a:off x="3273552" y="573328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不可逆性歯髄炎など</a:t>
            </a:r>
            <a:endParaRPr lang="en-US" sz="1000" dirty="0"/>
          </a:p>
        </p:txBody>
      </p:sp>
      <p:sp>
        <p:nvSpPr>
          <p:cNvPr id="114" name="Text 111"/>
          <p:cNvSpPr txBox="1"/>
          <p:nvPr/>
        </p:nvSpPr>
        <p:spPr>
          <a:xfrm>
            <a:off x="6016752" y="573328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日本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6647688" y="5790895"/>
            <a:ext cx="113386" cy="11338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6852514" y="5733288"/>
            <a:ext cx="4717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臨床研究(2025年1月に募集開始)</a:t>
            </a:r>
            <a:endParaRPr lang="en-US" sz="1000" dirty="0"/>
          </a:p>
        </p:txBody>
      </p:sp>
      <p:sp>
        <p:nvSpPr>
          <p:cNvPr id="117" name="Shape 114"/>
          <p:cNvSpPr/>
          <p:nvPr/>
        </p:nvSpPr>
        <p:spPr>
          <a:xfrm>
            <a:off x="548640" y="6117336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749808" y="608990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</a:t>
            </a:r>
            <a:endParaRPr lang="en-US" sz="1000" dirty="0"/>
          </a:p>
        </p:txBody>
      </p:sp>
      <p:sp>
        <p:nvSpPr>
          <p:cNvPr id="119" name="Shape 116"/>
          <p:cNvSpPr/>
          <p:nvPr/>
        </p:nvSpPr>
        <p:spPr>
          <a:xfrm>
            <a:off x="1271016" y="6117336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1472184" y="6089904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承認取消・失効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2656332" y="6117336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2857500" y="6089904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3511296" y="6117336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3712464" y="608990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中止・中断・未達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5038344" y="6117336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5230368" y="6089904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組織工学製品・体細胞製品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組織工学・体細胞製品:軟骨・膵島・角膜・血管で承認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品目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3273552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対象疾患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4813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国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481328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前臨床・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開始前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595555" y="1481328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第I相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07430" y="1481328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19305" y="1481328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第III相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631180" y="1481328"/>
            <a:ext cx="1011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承認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1901952"/>
            <a:ext cx="11094415" cy="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1901952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523744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3145536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767328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4389120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5010912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7595555" y="1901952"/>
            <a:ext cx="0" cy="3730752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8607430" y="1901952"/>
            <a:ext cx="0" cy="3730752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9619305" y="1901952"/>
            <a:ext cx="0" cy="3730752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0631180" y="1901952"/>
            <a:ext cx="0" cy="3730752"/>
          </a:xfrm>
          <a:prstGeom prst="line">
            <a:avLst/>
          </a:prstGeom>
          <a:noFill/>
          <a:ln w="9525">
            <a:solidFill>
              <a:srgbClr val="D7DCE2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621792" y="190195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JACC(ジャック)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273552" y="190195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外傷性軟骨欠損、変形性膝関節症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016752" y="190195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29400" y="1961022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720840" y="1961022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承認(2012年7月、適応拡大2025年5月)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" y="221284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ビズノバ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3273552" y="221284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水疱性角膜症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016752" y="221284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629400" y="2271918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20840" y="2271918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承認(2023年3月)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" y="252374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MACI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3273552" y="252374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膝軟骨欠損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016752" y="252374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629400" y="2582814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720840" y="2582814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承認(2016年12月)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21792" y="28346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Lantidra(膵島細胞)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3273552" y="28346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1型糖尿病(重症低血糖)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016752" y="28346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629400" y="2893710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720840" y="2893710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承認(2023年6月)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21792" y="314553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Symvess(無細胞の人工血管)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3273552" y="31455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四肢血管外傷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016752" y="314553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629400" y="3204606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1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720840" y="3204606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承認(2024年12月)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621792" y="345643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CartiLife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3273552" y="34564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膝関節軟骨欠損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016752" y="345643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韓国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629400" y="3515502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720840" y="3515502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承認は報道のみ(一次情報で未確認)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21792" y="376732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ハートシート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3273552" y="3767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重症心不全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016752" y="376732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629400" y="3826398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6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6720840" y="3826398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2015年 条件及び期限付承認 → 2024年 承認整理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21792" y="407822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MACI</a:t>
            </a:r>
            <a:endParaRPr lang="en-US" sz="1150" dirty="0"/>
          </a:p>
        </p:txBody>
      </p:sp>
      <p:sp>
        <p:nvSpPr>
          <p:cNvPr id="60" name="Text 57"/>
          <p:cNvSpPr txBox="1"/>
          <p:nvPr/>
        </p:nvSpPr>
        <p:spPr>
          <a:xfrm>
            <a:off x="3273552" y="407822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膝軟骨欠損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016752" y="40782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欧州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629400" y="4137294"/>
            <a:ext cx="4967935" cy="192756"/>
          </a:xfrm>
          <a:prstGeom prst="roundRect">
            <a:avLst>
              <a:gd name="adj" fmla="val 18975"/>
            </a:avLst>
          </a:prstGeom>
          <a:solidFill>
            <a:schemeClr val="accent6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6720840" y="4137294"/>
            <a:ext cx="4830775" cy="19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2013年承認 → 2018年失効(更新せず)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621792" y="43891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CartiLife(米国治験)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3273552" y="43891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膝関節軟骨欠損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6016752" y="438912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6629400" y="4448190"/>
            <a:ext cx="2944185" cy="192756"/>
          </a:xfrm>
          <a:prstGeom prst="roundRect">
            <a:avLst>
              <a:gd name="adj" fmla="val 18975"/>
            </a:avLst>
          </a:prstGeom>
          <a:solidFill>
            <a:schemeClr val="tx2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9646737" y="4389120"/>
            <a:ext cx="1978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第2相(現況未確認)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621792" y="47000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AURN001</a:t>
            </a:r>
            <a:endParaRPr lang="en-US" sz="1150" dirty="0"/>
          </a:p>
        </p:txBody>
      </p:sp>
      <p:sp>
        <p:nvSpPr>
          <p:cNvPr id="70" name="Text 67"/>
          <p:cNvSpPr txBox="1"/>
          <p:nvPr/>
        </p:nvSpPr>
        <p:spPr>
          <a:xfrm>
            <a:off x="3273552" y="470001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水疱性角膜症</a:t>
            </a:r>
            <a:endParaRPr lang="en-US" sz="1100" dirty="0"/>
          </a:p>
        </p:txBody>
      </p:sp>
      <p:sp>
        <p:nvSpPr>
          <p:cNvPr id="71" name="Text 68"/>
          <p:cNvSpPr txBox="1"/>
          <p:nvPr/>
        </p:nvSpPr>
        <p:spPr>
          <a:xfrm>
            <a:off x="6016752" y="470001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6647688" y="4778362"/>
            <a:ext cx="154204" cy="154204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893332" y="4700016"/>
            <a:ext cx="46765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未承認(BT・RMAT指定)</a:t>
            </a:r>
            <a:endParaRPr lang="en-US" sz="1100" dirty="0"/>
          </a:p>
        </p:txBody>
      </p:sp>
      <p:sp>
        <p:nvSpPr>
          <p:cNvPr id="74" name="Text 71"/>
          <p:cNvSpPr txBox="1"/>
          <p:nvPr/>
        </p:nvSpPr>
        <p:spPr>
          <a:xfrm>
            <a:off x="621792" y="501091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HCL001細胞注入</a:t>
            </a:r>
            <a:endParaRPr lang="en-US" sz="1150" dirty="0"/>
          </a:p>
        </p:txBody>
      </p:sp>
      <p:sp>
        <p:nvSpPr>
          <p:cNvPr id="75" name="Text 72"/>
          <p:cNvSpPr txBox="1"/>
          <p:nvPr/>
        </p:nvSpPr>
        <p:spPr>
          <a:xfrm>
            <a:off x="3273552" y="50109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非代償性肝硬変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6016752" y="501091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中国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6629400" y="5069982"/>
            <a:ext cx="920435" cy="192756"/>
          </a:xfrm>
          <a:prstGeom prst="roundRect">
            <a:avLst>
              <a:gd name="adj" fmla="val 18975"/>
            </a:avLst>
          </a:prstGeom>
          <a:solidFill>
            <a:schemeClr val="accent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7622987" y="5010912"/>
            <a:ext cx="4001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治験開始前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621792" y="532180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肝細胞移植(NCT04806581)</a:t>
            </a:r>
            <a:endParaRPr lang="en-US" sz="1150" dirty="0"/>
          </a:p>
        </p:txBody>
      </p:sp>
      <p:sp>
        <p:nvSpPr>
          <p:cNvPr id="80" name="Text 77"/>
          <p:cNvSpPr txBox="1"/>
          <p:nvPr/>
        </p:nvSpPr>
        <p:spPr>
          <a:xfrm>
            <a:off x="3273552" y="532180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肝硬変</a:t>
            </a:r>
            <a:endParaRPr lang="en-US" sz="1100" dirty="0"/>
          </a:p>
        </p:txBody>
      </p:sp>
      <p:sp>
        <p:nvSpPr>
          <p:cNvPr id="81" name="Text 78"/>
          <p:cNvSpPr txBox="1"/>
          <p:nvPr/>
        </p:nvSpPr>
        <p:spPr>
          <a:xfrm>
            <a:off x="6016752" y="53218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中国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6629400" y="5380878"/>
            <a:ext cx="920435" cy="192756"/>
          </a:xfrm>
          <a:prstGeom prst="roundRect">
            <a:avLst>
              <a:gd name="adj" fmla="val 18975"/>
            </a:avLst>
          </a:prstGeom>
          <a:solidFill>
            <a:schemeClr val="accent3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7622987" y="5321808"/>
            <a:ext cx="4001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治験開始前(第1相)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548640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749808" y="5760720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1271016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1472184" y="576072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承認(一次情報で未確認)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3319272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3520440" y="5760720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承認取消・失効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04588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905756" y="5760720"/>
            <a:ext cx="672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治験中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5559552" y="5788152"/>
            <a:ext cx="146304" cy="128016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5760720" y="5760720"/>
            <a:ext cx="1202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前臨床・開始前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6954012" y="5788152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7146036" y="5760720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相不明・臨床研究・申請中など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548640" y="603504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日本の死体ドナー膵島移植は保険収載であり、承認品目には含めていない。BTはBreakthrough Therapy。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横断的な技術動向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領域を横断して見える4つの流れ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2247824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844" y="19431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5603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他家細胞の活用が広がる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9184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iPS・ES細胞由来製品とGVHD向け間葉系幹細胞は他家が優勢。造血幹細胞の遺伝子治療は一貫して自家。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4892040"/>
            <a:ext cx="2110664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983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5212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アムシェプリ、リハート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Ryoncil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90824" y="155448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61942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6" name="Shape 12"/>
          <p:cNvSpPr/>
          <p:nvPr/>
        </p:nvSpPr>
        <p:spPr>
          <a:xfrm>
            <a:off x="5090008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28" y="19431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19424" y="25603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他家CAR-Tは適応を転換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619424" y="329184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血液がん向けは中止が相次ぐ。同じ技術基盤を自己免疫疾患に活用する開発が続く。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3619424" y="4892040"/>
            <a:ext cx="2110664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619424" y="4983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619424" y="5212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FT522, FT819, CNTY-101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33008" y="155448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46160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25" name="Shape 20"/>
          <p:cNvSpPr/>
          <p:nvPr/>
        </p:nvSpPr>
        <p:spPr>
          <a:xfrm>
            <a:off x="7932191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211" y="19431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61608" y="25603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ゲノム編集は自家で承認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61608" y="329184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CRISPR/Cas9は自家細胞のCasgevyが承認。他家細胞への応用3品目は中止。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461608" y="4892040"/>
            <a:ext cx="2110664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61608" y="4983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461608" y="5212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Casgevy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CTX110, CTX130, VCTX211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075191" y="155448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9303791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34" name="Shape 28"/>
          <p:cNvSpPr/>
          <p:nvPr/>
        </p:nvSpPr>
        <p:spPr>
          <a:xfrm>
            <a:off x="10774375" y="1783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395" y="1943100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303791" y="256032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細胞を含まない設計という道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303791" y="329184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無細胞の組織工学血管は、免疫拒絶の問題を設計で回避する。自家・他家の区分が当てはまらない。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9303791" y="4892040"/>
            <a:ext cx="2110664" cy="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303791" y="4983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例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9303791" y="521208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Symvess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リスク要因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承認後の撤退や、治験で効果を示せない例もある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81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承認されていた期間(承認 → 取消・失効)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48840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74520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39218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9597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5277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2015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19975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10354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36034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2017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00732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91111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16791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2019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81489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1868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97548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2246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2625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78305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43003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33382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59062" y="1828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23760" y="2103120"/>
            <a:ext cx="0" cy="2788920"/>
          </a:xfrm>
          <a:prstGeom prst="line">
            <a:avLst/>
          </a:prstGeom>
          <a:noFill/>
          <a:ln w="6350">
            <a:solidFill>
              <a:srgbClr val="D7DCE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21945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Provenge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欧州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414297" y="2240280"/>
            <a:ext cx="651932" cy="237744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6092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商業的理由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2651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MACI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600200" y="26517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欧州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340125" y="2697480"/>
            <a:ext cx="1955796" cy="237744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360920" y="2651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更新せず失効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1089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ハートシート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600200" y="31089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日本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06766" y="3154680"/>
            <a:ext cx="3450946" cy="237744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360920" y="31089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優越性を示せず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3566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Alofisel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600200" y="3566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欧州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186616" y="3611880"/>
            <a:ext cx="2627247" cy="237744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360920" y="3566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理由の明記なし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4023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Zynteglo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600200" y="40233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欧州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51166" y="4069080"/>
            <a:ext cx="1100867" cy="237744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360920" y="4023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商業的理由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44805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Skysona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600200" y="4480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欧州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482672" y="4526280"/>
            <a:ext cx="132729" cy="237744"/>
          </a:xfrm>
          <a:prstGeom prst="roundRect">
            <a:avLst>
              <a:gd name="adj" fmla="val 20668"/>
            </a:avLst>
          </a:prstGeom>
          <a:solidFill>
            <a:schemeClr val="tx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360920" y="4480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商業的理由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360920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取消・失効の理由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48640" y="5074920"/>
            <a:ext cx="81838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31520" y="5120640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欧州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は事業上の理由による取消・失効が中心。臨床的な問題を理由とする撤回は確認されていない。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日本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のハートシートは、市販後の検証で、比較対象より優れていることが示されなかった。</a:t>
            </a:r>
            <a:endParaRPr lang="en-US" sz="1150" dirty="0"/>
          </a:p>
        </p:txBody>
      </p:sp>
      <p:sp>
        <p:nvSpPr>
          <p:cNvPr id="54" name="Text 51"/>
          <p:cNvSpPr txBox="1"/>
          <p:nvPr/>
        </p:nvSpPr>
        <p:spPr>
          <a:xfrm>
            <a:off x="9006840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後期の治験で目標の効果を示せず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9006840" y="1874520"/>
            <a:ext cx="263347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56" name="Shape 53"/>
          <p:cNvSpPr/>
          <p:nvPr/>
        </p:nvSpPr>
        <p:spPr>
          <a:xfrm>
            <a:off x="9171432" y="20574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2" y="2171700"/>
            <a:ext cx="228600" cy="22860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9756648" y="19842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gMSC®1</a:t>
            </a:r>
            <a:endParaRPr lang="en-US" sz="1500" dirty="0"/>
          </a:p>
        </p:txBody>
      </p:sp>
      <p:sp>
        <p:nvSpPr>
          <p:cNvPr id="59" name="Text 55"/>
          <p:cNvSpPr txBox="1"/>
          <p:nvPr/>
        </p:nvSpPr>
        <p:spPr>
          <a:xfrm>
            <a:off x="9756648" y="23317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日本|軟骨再生</a:t>
            </a:r>
            <a:endParaRPr lang="en-US" sz="1100" dirty="0"/>
          </a:p>
        </p:txBody>
      </p:sp>
      <p:sp>
        <p:nvSpPr>
          <p:cNvPr id="60" name="Text 56"/>
          <p:cNvSpPr txBox="1"/>
          <p:nvPr/>
        </p:nvSpPr>
        <p:spPr>
          <a:xfrm>
            <a:off x="9756648" y="262432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第III相(2023年)</a:t>
            </a:r>
            <a:endParaRPr lang="en-US" sz="1250" dirty="0"/>
          </a:p>
        </p:txBody>
      </p:sp>
      <p:sp>
        <p:nvSpPr>
          <p:cNvPr id="61" name="Shape 57"/>
          <p:cNvSpPr/>
          <p:nvPr/>
        </p:nvSpPr>
        <p:spPr>
          <a:xfrm>
            <a:off x="9006840" y="3246120"/>
            <a:ext cx="263347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62" name="Shape 58"/>
          <p:cNvSpPr/>
          <p:nvPr/>
        </p:nvSpPr>
        <p:spPr>
          <a:xfrm>
            <a:off x="9171432" y="34290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32" y="3543300"/>
            <a:ext cx="228600" cy="228600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9756648" y="33558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CardiAMP</a:t>
            </a:r>
            <a:endParaRPr lang="en-US" sz="1500" dirty="0"/>
          </a:p>
        </p:txBody>
      </p:sp>
      <p:sp>
        <p:nvSpPr>
          <p:cNvPr id="65" name="Text 60"/>
          <p:cNvSpPr txBox="1"/>
          <p:nvPr/>
        </p:nvSpPr>
        <p:spPr>
          <a:xfrm>
            <a:off x="9756648" y="37033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米国|虚血性心不全</a:t>
            </a:r>
            <a:endParaRPr lang="en-US" sz="1100" dirty="0"/>
          </a:p>
        </p:txBody>
      </p:sp>
      <p:sp>
        <p:nvSpPr>
          <p:cNvPr id="66" name="Text 61"/>
          <p:cNvSpPr txBox="1"/>
          <p:nvPr/>
        </p:nvSpPr>
        <p:spPr>
          <a:xfrm>
            <a:off x="9756648" y="399592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第III相</a:t>
            </a:r>
            <a:endParaRPr lang="en-US" sz="1250" dirty="0"/>
          </a:p>
        </p:txBody>
      </p:sp>
      <p:sp>
        <p:nvSpPr>
          <p:cNvPr id="67" name="Shape 62"/>
          <p:cNvSpPr/>
          <p:nvPr/>
        </p:nvSpPr>
        <p:spPr>
          <a:xfrm>
            <a:off x="9006840" y="4617720"/>
            <a:ext cx="263347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68" name="Shape 63"/>
          <p:cNvSpPr/>
          <p:nvPr/>
        </p:nvSpPr>
        <p:spPr>
          <a:xfrm>
            <a:off x="9171432" y="48006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732" y="4914900"/>
            <a:ext cx="228600" cy="228600"/>
          </a:xfrm>
          <a:prstGeom prst="rect">
            <a:avLst/>
          </a:prstGeom>
        </p:spPr>
      </p:pic>
      <p:sp>
        <p:nvSpPr>
          <p:cNvPr id="70" name="Text 64"/>
          <p:cNvSpPr txBox="1"/>
          <p:nvPr/>
        </p:nvSpPr>
        <p:spPr>
          <a:xfrm>
            <a:off x="9756648" y="47274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laromestrocel</a:t>
            </a:r>
            <a:endParaRPr lang="en-US" sz="1500" dirty="0"/>
          </a:p>
        </p:txBody>
      </p:sp>
      <p:sp>
        <p:nvSpPr>
          <p:cNvPr id="71" name="Text 65"/>
          <p:cNvSpPr txBox="1"/>
          <p:nvPr/>
        </p:nvSpPr>
        <p:spPr>
          <a:xfrm>
            <a:off x="9756648" y="507492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米国|左心低形成症候群</a:t>
            </a:r>
            <a:endParaRPr lang="en-US" sz="1100" dirty="0"/>
          </a:p>
        </p:txBody>
      </p:sp>
      <p:sp>
        <p:nvSpPr>
          <p:cNvPr id="72" name="Text 66"/>
          <p:cNvSpPr txBox="1"/>
          <p:nvPr/>
        </p:nvSpPr>
        <p:spPr>
          <a:xfrm>
            <a:off x="9756648" y="536752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第IIb相(2026年)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まとめ:細胞医療の現在地を5つの数字で読む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11094415" cy="768096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57276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66%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572768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実用化は加速している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572768"/>
            <a:ext cx="47850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現在有効な承認44件(承認日確認分)のうち29件が2021年以降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11094415" cy="768096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45973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43%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245973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CAR-Tが実用化をけん引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459736"/>
            <a:ext cx="47850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承認47件のうち20件。血液がんで定着し、固形がん・自己免疫へ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46704"/>
            <a:ext cx="11094415" cy="768096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34670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2品目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346704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iPS細胞は日本が先行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346704"/>
            <a:ext cx="47850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世界初のiPS細胞由来製品を承認。市販後の有効性検証が次の関門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233672"/>
            <a:ext cx="11094415" cy="768096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2336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11件 対 4件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42336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後期の治験は米国が厚い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4233672"/>
            <a:ext cx="47850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第II相系・第III相系の治験中品目は米国11件、日本4件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11094415" cy="768096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512064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6件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512064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承認は到達点ではない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5120640"/>
            <a:ext cx="47850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承認取消・失効は6件、うち5件が欧州。事業性と市販後の検証が課題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レポートの記載をもとにした本資料の整理。割合は本資料で算出。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B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用語集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この資料に出てくる主なことば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27632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幹細胞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自分と同じ細胞を増やす力と、別の種類の細胞に変わる力を持つ細胞。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61608" y="1627632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iPS細胞 / ES細胞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61608" y="196596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体のさまざまな細胞になれる「多能性幹細胞」。iPS細胞は皮膚や血液の細胞から、ES細胞は初期の胚から作る。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2743200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自家 / 他家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081528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自家は患者本人の細胞を使うこと。他家は他人(ドナー)の細胞や、そこから作った細胞を使うこと。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70048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61608" y="2743200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CAR-T療法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61608" y="3081528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免疫細胞のT細胞に、がんの目印を見つけるアンテナ(CAR)を付けて体に戻す治療。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785616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3858768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遺伝子治療 / ゲノム編集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197096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遺伝子治療は正常な遺伝子を細胞に届ける方法。ゲノム編集はDNAをねらった場所で書き換える方法。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33008" y="3785616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61608" y="3858768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治験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61608" y="4197096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人での安全性と効果を確かめる試験。第I相、第II相、第III相の順に進む。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901184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7240" y="4974336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承認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312664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国の規制当局が、製造と販売を認めること。条件や期限が付く場合がある。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33008" y="4901184"/>
            <a:ext cx="5410048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61608" y="4974336"/>
            <a:ext cx="495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GVHD(移植片対宿主病)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61608" y="5312664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移植された他人の免疫細胞が、患者の体を攻撃してしまう合併症。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留意事項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本資料の数字を読む際の前提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802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76479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網羅的な統計ではない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14884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品目数は本調査で確認できた範囲の集計で、業界全体を網羅するものではない。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33008" y="1600200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6461608" y="19202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20802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30288" y="176479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件数は延べ件数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330288" y="214884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国別の件数は、同一品目を国ごとに1件と数えた延べ件数(計148件)。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044952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336499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52501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3209544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集計は再照合していない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645920" y="3593592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国別集計は各章の記載を再集計したもので、集計そのものは出典と再照合していない。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33008" y="3044952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1" name="Shape 15"/>
          <p:cNvSpPr/>
          <p:nvPr/>
        </p:nvSpPr>
        <p:spPr>
          <a:xfrm>
            <a:off x="6461608" y="336499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628" y="352501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30288" y="3209544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確認が限定的な地域がある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330288" y="3593592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韓国、欧州大陸部、中国は、一次情報での確認が限定的。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4489704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6" name="Shape 19"/>
          <p:cNvSpPr/>
          <p:nvPr/>
        </p:nvSpPr>
        <p:spPr>
          <a:xfrm>
            <a:off x="777240" y="4809744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969764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45920" y="4654296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「確認できず」は未承認ではない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645920" y="5038344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情報が得られなかったことを指し、その国で未承認であることを意味しない。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233008" y="4489704"/>
            <a:ext cx="541004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31" name="Shape 23"/>
          <p:cNvSpPr/>
          <p:nvPr/>
        </p:nvSpPr>
        <p:spPr>
          <a:xfrm>
            <a:off x="6461608" y="4809744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628" y="4969764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330288" y="4654296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治療の助言ではない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7330288" y="5038344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情報の整理を目的とした資料であり、個別の治療に関する助言ではない。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7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llTherapy">
  <a:themeElements>
    <a:clrScheme name="CellTherapy">
      <a:dk1>
        <a:srgbClr val="14273A"/>
      </a:dk1>
      <a:lt1>
        <a:srgbClr val="FFFFFF"/>
      </a:lt1>
      <a:dk2>
        <a:srgbClr val="1B3A5C"/>
      </a:dk2>
      <a:lt2>
        <a:srgbClr val="F1F3F6"/>
      </a:lt2>
      <a:accent1>
        <a:srgbClr val="C2540F"/>
      </a:accent1>
      <a:accent2>
        <a:srgbClr val="2F5F8F"/>
      </a:accent2>
      <a:accent3>
        <a:srgbClr val="9DBBD9"/>
      </a:accent3>
      <a:accent4>
        <a:srgbClr val="EDB98A"/>
      </a:accent4>
      <a:accent5>
        <a:srgbClr val="8793A0"/>
      </a:accent5>
      <a:accent6>
        <a:srgbClr val="D7DCE2"/>
      </a:accent6>
      <a:hlink>
        <a:srgbClr val="0563C1"/>
      </a:hlink>
      <a:folHlink>
        <a:srgbClr val="954F72"/>
      </a:folHlink>
    </a:clrScheme>
    <a:fontScheme name="CellTherap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はじめての細胞医療 世界の現在地</dc:title>
  <dc:subject>PptxGenJS Presentation</dc:subject>
  <dc:creator>PptxGenJS</dc:creator>
  <cp:lastModifiedBy>PptxGenJS</cp:lastModifiedBy>
  <cp:revision>1</cp:revision>
  <dcterms:created xsi:type="dcterms:W3CDTF">2026-10-04T07:28:50Z</dcterms:created>
  <dcterms:modified xsi:type="dcterms:W3CDTF">2026-10-04T07:28:50Z</dcterms:modified>
</cp:coreProperties>
</file>